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300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Good morning. My project is GoParking, a local parking management application. It combines a Streamlit interface, a Java parking engine and a SQLite database. My focus today is how real data structures from DSA are used in the actual code. Fill in your official college name before presenting. Evaluator may ask: why two languages? Answer: Python for UI and database, Java for the parking logic.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Manual parking is hard to track. Staff may not know which slots are free, paper records get lost, and finding a car takes time. This project shows a software workflow for this. It does not use sensors or number-plate recognition; users type vehicle details. Evaluator may ask: is this real-time sensing? Answer: no, it is application-driven.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Each objective maps to a real feature or Java command. The key DSA objective is the allocation rule: always give the lowest-numbered free slot. Not implemented: reservations and vehicle-size matching.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Streamlit handles the interface and SQLite. Java handles live slot allocation and active-vehicle lookup. The fee is recorded in the database; there is no real payment gateway. Evaluator may ask: is payment real? Answer: no, only a fee and payment row are recorded.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These are the verified technologies only. Python and Java have separate responsibilities. There is no requirements file or Maven/Gradle file in the project, so setup is manual (Streamlit, pandas, JDK).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browser talks to Streamlit. Python sends text commands like PARK|reg|color|type to Java on port 5000, and separately reads and writes SQLite. Java holds live occupancy in memory; SQLite is the durable store. On restart Python restores active vehicles to Java, best effort. Honest caveat: Java server does not bind explicitly to loopback and has no authentication, so do not expose port 5000.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Entry: Python validates ownership and saves the vehicle, sends PARK to Java, Java picks the smallest free slot, then Python logs an active event. Exit: Python checks ownership, sends REMOVE, Java frees the slot, then Python calculates the fee (hours rounded up, minimum one hour) and records the payment row.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All of these come from ParkingLot.java and are standard Java collections. We did not implement their internals. We do NOT implement a stack, queue, linked list, heap, graph algorithm, recursion or custom sorting. Evaluator may ask: why not a heap? Answer: a heap could also give the minimum, but TreeSet is simple and keeps slots unique and ordered.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Left: the real code from ParkingLot.java. The TreeSet keeps free slot numbers sorted, so first() returns the smallest. Example: free {1,3,5}, the next car gets 1 and the set becomes {3,5}. On exit, the slot number is added back. The HashMap uses the uppercase registration as key, so duplicate parking is rejected quickly. Evaluator may ask: is first() O(1)? Answer: no, in a tree-backed set selection and removal are O(log 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Java method validates, rejects duplicates, rejects a full lot, then takes the smallest free slot and updates its structures. Python then logs the successful event in SQLite. A registered vehicle is not necessarily parked; the duplicate check concerns active parking only.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 = total slots (10 now), n = active vehicles, h = in-memory history records, r = color matches. These are asymptotic estimates, not benchmarks. Slot display is O(s x n) because each slot scans the occupied map; with 10 slots this is tiny. SQL query cost is not included because no query plans or benchmarks were run. Improvement idea: a slot-indexed array removes the nested scan.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Demo one full lifecycle: sign in, show the dashboard, park a vehicle and note its slot, search it, remove it and show the slot free again. Insert your REAL screenshots in the placeholders. Test results shown were actually run during the code review: 4 Python tests, the Java smoke test and Python syntax compile all passed. Not tested: full browser flow, end-to-end fee flow, performance.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 honest here; evaluators respect it. Limitations are current facts. Future items are proposals only and not implemented. Evaluator may ask: what would you fix first? Answer: bind Java to loopback or add authentication, then add integration tests.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Summarize in your own words: the problem, what was built, and the DSA link. The core DSA contribution is the TreeSet for ordered slot selection plus the HashMap for active registration lookup. Be precise: expected O(1) applies to the Java HashMap, not every database-backed search.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731520" y="1188720"/>
            <a:ext cx="7772400" cy="822960"/>
          </a:xfrm>
          <a:prstGeom prst="rect">
            <a:avLst/>
          </a:prstGeom>
          <a:noFill/>
          <a:ln/>
        </p:spPr>
        <p:txBody>
          <a:bodyPr wrap="square" lIns="0" tIns="0" rIns="0" bIns="0" rtlCol="0" anchor="ctr"/>
          <a:lstStyle/>
          <a:p>
            <a:pPr marL="0" indent="0">
              <a:buNone/>
            </a:pPr>
            <a:r>
              <a:rPr lang="en-US" sz="4800" b="1" dirty="0">
                <a:solidFill>
                  <a:srgbClr val="F1F5F9"/>
                </a:solidFill>
              </a:rPr>
              <a:t>GoParking</a:t>
            </a:r>
            <a:endParaRPr lang="en-US" sz="4800" dirty="0"/>
          </a:p>
        </p:txBody>
      </p:sp>
      <p:sp>
        <p:nvSpPr>
          <p:cNvPr id="4" name="Text 2"/>
          <p:cNvSpPr txBox="1"/>
          <p:nvPr/>
        </p:nvSpPr>
        <p:spPr>
          <a:xfrm>
            <a:off x="731520" y="2011680"/>
            <a:ext cx="7772400" cy="457200"/>
          </a:xfrm>
          <a:prstGeom prst="rect">
            <a:avLst/>
          </a:prstGeom>
          <a:noFill/>
          <a:ln/>
        </p:spPr>
        <p:txBody>
          <a:bodyPr wrap="square" lIns="0" tIns="0" rIns="0" bIns="0" rtlCol="0" anchor="ctr"/>
          <a:lstStyle/>
          <a:p>
            <a:pPr marL="0" indent="0">
              <a:buNone/>
            </a:pPr>
            <a:r>
              <a:rPr lang="en-US" sz="2200" dirty="0">
                <a:solidFill>
                  <a:srgbClr val="22D3EE"/>
                </a:solidFill>
              </a:rPr>
              <a:t>     Smart Parking </a:t>
            </a:r>
            <a:br>
              <a:rPr lang="en-US" sz="2200" dirty="0">
                <a:solidFill>
                  <a:srgbClr val="22D3EE"/>
                </a:solidFill>
              </a:rPr>
            </a:br>
            <a:r>
              <a:rPr lang="en-US" sz="2200" dirty="0">
                <a:solidFill>
                  <a:srgbClr val="22D3EE"/>
                </a:solidFill>
              </a:rPr>
              <a:t>Management System</a:t>
            </a:r>
            <a:endParaRPr lang="en-US" sz="2200" dirty="0"/>
          </a:p>
        </p:txBody>
      </p:sp>
      <p:sp>
        <p:nvSpPr>
          <p:cNvPr id="5" name="Text 3"/>
          <p:cNvSpPr txBox="1"/>
          <p:nvPr/>
        </p:nvSpPr>
        <p:spPr>
          <a:xfrm>
            <a:off x="731520" y="2926080"/>
            <a:ext cx="7772400" cy="1097280"/>
          </a:xfrm>
          <a:prstGeom prst="rect">
            <a:avLst/>
          </a:prstGeom>
          <a:noFill/>
          <a:ln/>
        </p:spPr>
        <p:txBody>
          <a:bodyPr wrap="square" lIns="0" tIns="0" rIns="0" bIns="0" rtlCol="0" anchor="ctr"/>
          <a:lstStyle/>
          <a:p>
            <a:pPr marL="0" indent="0">
              <a:spcAft>
                <a:spcPts val="600"/>
              </a:spcAft>
              <a:buNone/>
            </a:pPr>
            <a:r>
              <a:rPr lang="en-US" sz="1600" dirty="0">
                <a:solidFill>
                  <a:srgbClr val="F1F5F9"/>
                </a:solidFill>
              </a:rPr>
              <a:t>DSA Major Project</a:t>
            </a:r>
            <a:endParaRPr lang="en-US" sz="1600" dirty="0"/>
          </a:p>
          <a:p>
            <a:pPr marL="0" indent="0">
              <a:spcAft>
                <a:spcPts val="600"/>
              </a:spcAft>
              <a:buNone/>
            </a:pPr>
            <a:r>
              <a:rPr lang="en-US" sz="1600" dirty="0">
                <a:solidFill>
                  <a:srgbClr val="F1F5F9"/>
                </a:solidFill>
              </a:rPr>
              <a:t>Student: Tesh Kumar Sahu  |  Soumya Ranjan Dash</a:t>
            </a:r>
            <a:endParaRPr lang="en-US" sz="1600" dirty="0"/>
          </a:p>
          <a:p>
            <a:pPr marL="0" indent="0">
              <a:spcAft>
                <a:spcPts val="600"/>
              </a:spcAft>
              <a:buNone/>
            </a:pPr>
            <a:r>
              <a:rPr lang="en-US" sz="1600" dirty="0">
                <a:solidFill>
                  <a:srgbClr val="F59E0B"/>
                </a:solidFill>
              </a:rPr>
              <a:t>College : Rungta College of Engg. &amp; Technology, Bhilai</a:t>
            </a:r>
            <a:endParaRPr lang="en-US" sz="1600" dirty="0"/>
          </a:p>
        </p:txBody>
      </p:sp>
      <p:pic>
        <p:nvPicPr>
          <p:cNvPr id="7" name="Picture 6">
            <a:extLst>
              <a:ext uri="{FF2B5EF4-FFF2-40B4-BE49-F238E27FC236}">
                <a16:creationId xmlns:a16="http://schemas.microsoft.com/office/drawing/2014/main" id="{250616EF-0929-49E4-1AE4-607E5BE8AE82}"/>
              </a:ext>
            </a:extLst>
          </p:cNvPr>
          <p:cNvPicPr>
            <a:picLocks noChangeAspect="1"/>
          </p:cNvPicPr>
          <p:nvPr/>
        </p:nvPicPr>
        <p:blipFill>
          <a:blip r:embed="rId3"/>
          <a:stretch>
            <a:fillRect/>
          </a:stretch>
        </p:blipFill>
        <p:spPr>
          <a:xfrm>
            <a:off x="3488798" y="529468"/>
            <a:ext cx="5426601" cy="2473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Problem Statement</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2</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097280"/>
            <a:ext cx="4023360" cy="1554480"/>
          </a:xfrm>
          <a:prstGeom prst="roundRect">
            <a:avLst>
              <a:gd name="adj" fmla="val 4706"/>
            </a:avLst>
          </a:prstGeom>
          <a:solidFill>
            <a:srgbClr val="16233F"/>
          </a:solidFill>
          <a:ln w="12700">
            <a:solidFill>
              <a:srgbClr val="3B82F6"/>
            </a:solidFill>
            <a:prstDash val="solid"/>
          </a:ln>
        </p:spPr>
        <p:txBody>
          <a:bodyPr/>
          <a:lstStyle/>
          <a:p>
            <a:endParaRPr lang="en-IN"/>
          </a:p>
        </p:txBody>
      </p:sp>
      <p:sp>
        <p:nvSpPr>
          <p:cNvPr id="9" name="Text 6"/>
          <p:cNvSpPr txBox="1"/>
          <p:nvPr/>
        </p:nvSpPr>
        <p:spPr>
          <a:xfrm>
            <a:off x="457200" y="1097280"/>
            <a:ext cx="4023360" cy="1554480"/>
          </a:xfrm>
          <a:prstGeom prst="rect">
            <a:avLst/>
          </a:prstGeom>
          <a:noFill/>
          <a:ln/>
        </p:spPr>
        <p:txBody>
          <a:bodyPr wrap="square" lIns="50800" tIns="50800" rIns="50800" bIns="50800" rtlCol="0" anchor="ctr"/>
          <a:lstStyle/>
          <a:p>
            <a:pPr marL="0" indent="0" algn="ctr">
              <a:buNone/>
            </a:pPr>
            <a:endParaRPr lang="en-US" sz="1200" dirty="0"/>
          </a:p>
        </p:txBody>
      </p:sp>
      <p:sp>
        <p:nvSpPr>
          <p:cNvPr id="10" name="Text 7"/>
          <p:cNvSpPr txBox="1"/>
          <p:nvPr/>
        </p:nvSpPr>
        <p:spPr>
          <a:xfrm>
            <a:off x="640080" y="1234440"/>
            <a:ext cx="3657600" cy="365760"/>
          </a:xfrm>
          <a:prstGeom prst="rect">
            <a:avLst/>
          </a:prstGeom>
          <a:noFill/>
          <a:ln/>
        </p:spPr>
        <p:txBody>
          <a:bodyPr wrap="square" lIns="0" tIns="0" rIns="0" bIns="0" rtlCol="0" anchor="ctr"/>
          <a:lstStyle/>
          <a:p>
            <a:pPr marL="0" indent="0">
              <a:buNone/>
            </a:pPr>
            <a:r>
              <a:rPr lang="en-US" sz="1600" b="1" dirty="0">
                <a:solidFill>
                  <a:srgbClr val="22D3EE"/>
                </a:solidFill>
              </a:rPr>
              <a:t>Unclear free-space status</a:t>
            </a:r>
            <a:endParaRPr lang="en-US" sz="1600" dirty="0"/>
          </a:p>
        </p:txBody>
      </p:sp>
      <p:sp>
        <p:nvSpPr>
          <p:cNvPr id="11" name="Text 8"/>
          <p:cNvSpPr txBox="1"/>
          <p:nvPr/>
        </p:nvSpPr>
        <p:spPr>
          <a:xfrm>
            <a:off x="640080" y="1737360"/>
            <a:ext cx="3657600" cy="731520"/>
          </a:xfrm>
          <a:prstGeom prst="rect">
            <a:avLst/>
          </a:prstGeom>
          <a:noFill/>
          <a:ln/>
        </p:spPr>
        <p:txBody>
          <a:bodyPr wrap="square" lIns="0" tIns="0" rIns="0" bIns="0" rtlCol="0" anchor="t"/>
          <a:lstStyle/>
          <a:p>
            <a:pPr marL="0" indent="0">
              <a:buNone/>
            </a:pPr>
            <a:r>
              <a:rPr lang="en-US" sz="1400" dirty="0">
                <a:solidFill>
                  <a:srgbClr val="F1F5F9"/>
                </a:solidFill>
              </a:rPr>
              <a:t>Staff cannot easily see which numbered slots are free</a:t>
            </a:r>
            <a:endParaRPr lang="en-US" sz="1400" dirty="0"/>
          </a:p>
        </p:txBody>
      </p:sp>
      <p:sp>
        <p:nvSpPr>
          <p:cNvPr id="12" name="Shape 9"/>
          <p:cNvSpPr/>
          <p:nvPr/>
        </p:nvSpPr>
        <p:spPr>
          <a:xfrm>
            <a:off x="4663440" y="1097280"/>
            <a:ext cx="4023360" cy="1554480"/>
          </a:xfrm>
          <a:prstGeom prst="roundRect">
            <a:avLst>
              <a:gd name="adj" fmla="val 4706"/>
            </a:avLst>
          </a:prstGeom>
          <a:solidFill>
            <a:srgbClr val="16233F"/>
          </a:solidFill>
          <a:ln w="12700">
            <a:solidFill>
              <a:srgbClr val="3B82F6"/>
            </a:solidFill>
            <a:prstDash val="solid"/>
          </a:ln>
        </p:spPr>
        <p:txBody>
          <a:bodyPr/>
          <a:lstStyle/>
          <a:p>
            <a:endParaRPr lang="en-IN"/>
          </a:p>
        </p:txBody>
      </p:sp>
      <p:sp>
        <p:nvSpPr>
          <p:cNvPr id="13" name="Text 10"/>
          <p:cNvSpPr txBox="1"/>
          <p:nvPr/>
        </p:nvSpPr>
        <p:spPr>
          <a:xfrm>
            <a:off x="4663440" y="1097280"/>
            <a:ext cx="4023360" cy="1554480"/>
          </a:xfrm>
          <a:prstGeom prst="rect">
            <a:avLst/>
          </a:prstGeom>
          <a:noFill/>
          <a:ln/>
        </p:spPr>
        <p:txBody>
          <a:bodyPr wrap="square" lIns="50800" tIns="50800" rIns="50800" bIns="50800" rtlCol="0" anchor="ctr"/>
          <a:lstStyle/>
          <a:p>
            <a:pPr marL="0" indent="0" algn="ctr">
              <a:buNone/>
            </a:pPr>
            <a:endParaRPr lang="en-US" sz="1200" dirty="0"/>
          </a:p>
        </p:txBody>
      </p:sp>
      <p:sp>
        <p:nvSpPr>
          <p:cNvPr id="14" name="Text 11"/>
          <p:cNvSpPr txBox="1"/>
          <p:nvPr/>
        </p:nvSpPr>
        <p:spPr>
          <a:xfrm>
            <a:off x="4846320" y="1234440"/>
            <a:ext cx="3657600" cy="365760"/>
          </a:xfrm>
          <a:prstGeom prst="rect">
            <a:avLst/>
          </a:prstGeom>
          <a:noFill/>
          <a:ln/>
        </p:spPr>
        <p:txBody>
          <a:bodyPr wrap="square" lIns="0" tIns="0" rIns="0" bIns="0" rtlCol="0" anchor="ctr"/>
          <a:lstStyle/>
          <a:p>
            <a:pPr marL="0" indent="0">
              <a:buNone/>
            </a:pPr>
            <a:r>
              <a:rPr lang="en-US" sz="1600" b="1" dirty="0">
                <a:solidFill>
                  <a:srgbClr val="22D3EE"/>
                </a:solidFill>
              </a:rPr>
              <a:t>Weak entry/exit records</a:t>
            </a:r>
            <a:endParaRPr lang="en-US" sz="1600" dirty="0"/>
          </a:p>
        </p:txBody>
      </p:sp>
      <p:sp>
        <p:nvSpPr>
          <p:cNvPr id="15" name="Text 12"/>
          <p:cNvSpPr txBox="1"/>
          <p:nvPr/>
        </p:nvSpPr>
        <p:spPr>
          <a:xfrm>
            <a:off x="4846320" y="1737360"/>
            <a:ext cx="3657600" cy="731520"/>
          </a:xfrm>
          <a:prstGeom prst="rect">
            <a:avLst/>
          </a:prstGeom>
          <a:noFill/>
          <a:ln/>
        </p:spPr>
        <p:txBody>
          <a:bodyPr wrap="square" lIns="0" tIns="0" rIns="0" bIns="0" rtlCol="0" anchor="t"/>
          <a:lstStyle/>
          <a:p>
            <a:pPr marL="0" indent="0">
              <a:buNone/>
            </a:pPr>
            <a:r>
              <a:rPr lang="en-US" sz="1400" dirty="0">
                <a:solidFill>
                  <a:srgbClr val="F1F5F9"/>
                </a:solidFill>
              </a:rPr>
              <a:t>Paper registers are hard to keep consistent</a:t>
            </a:r>
            <a:endParaRPr lang="en-US" sz="1400" dirty="0"/>
          </a:p>
        </p:txBody>
      </p:sp>
      <p:sp>
        <p:nvSpPr>
          <p:cNvPr id="16" name="Shape 13"/>
          <p:cNvSpPr/>
          <p:nvPr/>
        </p:nvSpPr>
        <p:spPr>
          <a:xfrm>
            <a:off x="457200" y="2834640"/>
            <a:ext cx="4023360" cy="1554480"/>
          </a:xfrm>
          <a:prstGeom prst="roundRect">
            <a:avLst>
              <a:gd name="adj" fmla="val 4706"/>
            </a:avLst>
          </a:prstGeom>
          <a:solidFill>
            <a:srgbClr val="16233F"/>
          </a:solidFill>
          <a:ln w="12700">
            <a:solidFill>
              <a:srgbClr val="3B82F6"/>
            </a:solidFill>
            <a:prstDash val="solid"/>
          </a:ln>
        </p:spPr>
        <p:txBody>
          <a:bodyPr/>
          <a:lstStyle/>
          <a:p>
            <a:endParaRPr lang="en-IN"/>
          </a:p>
        </p:txBody>
      </p:sp>
      <p:sp>
        <p:nvSpPr>
          <p:cNvPr id="17" name="Text 14"/>
          <p:cNvSpPr txBox="1"/>
          <p:nvPr/>
        </p:nvSpPr>
        <p:spPr>
          <a:xfrm>
            <a:off x="457200" y="2834640"/>
            <a:ext cx="4023360" cy="1554480"/>
          </a:xfrm>
          <a:prstGeom prst="rect">
            <a:avLst/>
          </a:prstGeom>
          <a:noFill/>
          <a:ln/>
        </p:spPr>
        <p:txBody>
          <a:bodyPr wrap="square" lIns="50800" tIns="50800" rIns="50800" bIns="50800" rtlCol="0" anchor="ctr"/>
          <a:lstStyle/>
          <a:p>
            <a:pPr marL="0" indent="0" algn="ctr">
              <a:buNone/>
            </a:pPr>
            <a:endParaRPr lang="en-US" sz="1200" dirty="0"/>
          </a:p>
        </p:txBody>
      </p:sp>
      <p:sp>
        <p:nvSpPr>
          <p:cNvPr id="18" name="Text 15"/>
          <p:cNvSpPr txBox="1"/>
          <p:nvPr/>
        </p:nvSpPr>
        <p:spPr>
          <a:xfrm>
            <a:off x="640080" y="2971800"/>
            <a:ext cx="3657600" cy="365760"/>
          </a:xfrm>
          <a:prstGeom prst="rect">
            <a:avLst/>
          </a:prstGeom>
          <a:noFill/>
          <a:ln/>
        </p:spPr>
        <p:txBody>
          <a:bodyPr wrap="square" lIns="0" tIns="0" rIns="0" bIns="0" rtlCol="0" anchor="ctr"/>
          <a:lstStyle/>
          <a:p>
            <a:pPr marL="0" indent="0">
              <a:buNone/>
            </a:pPr>
            <a:r>
              <a:rPr lang="en-US" sz="1600" b="1" dirty="0">
                <a:solidFill>
                  <a:srgbClr val="22D3EE"/>
                </a:solidFill>
              </a:rPr>
              <a:t>Slow vehicle lookup</a:t>
            </a:r>
            <a:endParaRPr lang="en-US" sz="1600" dirty="0"/>
          </a:p>
        </p:txBody>
      </p:sp>
      <p:sp>
        <p:nvSpPr>
          <p:cNvPr id="19" name="Text 16"/>
          <p:cNvSpPr txBox="1"/>
          <p:nvPr/>
        </p:nvSpPr>
        <p:spPr>
          <a:xfrm>
            <a:off x="640080" y="3474720"/>
            <a:ext cx="3657600" cy="731520"/>
          </a:xfrm>
          <a:prstGeom prst="rect">
            <a:avLst/>
          </a:prstGeom>
          <a:noFill/>
          <a:ln/>
        </p:spPr>
        <p:txBody>
          <a:bodyPr wrap="square" lIns="0" tIns="0" rIns="0" bIns="0" rtlCol="0" anchor="t"/>
          <a:lstStyle/>
          <a:p>
            <a:pPr marL="0" indent="0">
              <a:buNone/>
            </a:pPr>
            <a:r>
              <a:rPr lang="en-US" sz="1400" dirty="0">
                <a:solidFill>
                  <a:srgbClr val="F1F5F9"/>
                </a:solidFill>
              </a:rPr>
              <a:t>Finding a car by registration or color takes time</a:t>
            </a:r>
            <a:endParaRPr lang="en-US" sz="1400" dirty="0"/>
          </a:p>
        </p:txBody>
      </p:sp>
      <p:sp>
        <p:nvSpPr>
          <p:cNvPr id="20" name="Shape 17"/>
          <p:cNvSpPr/>
          <p:nvPr/>
        </p:nvSpPr>
        <p:spPr>
          <a:xfrm>
            <a:off x="4663440" y="2834640"/>
            <a:ext cx="4023360" cy="1554480"/>
          </a:xfrm>
          <a:prstGeom prst="roundRect">
            <a:avLst>
              <a:gd name="adj" fmla="val 4706"/>
            </a:avLst>
          </a:prstGeom>
          <a:solidFill>
            <a:srgbClr val="16233F"/>
          </a:solidFill>
          <a:ln w="12700">
            <a:solidFill>
              <a:srgbClr val="3B82F6"/>
            </a:solidFill>
            <a:prstDash val="solid"/>
          </a:ln>
        </p:spPr>
        <p:txBody>
          <a:bodyPr/>
          <a:lstStyle/>
          <a:p>
            <a:endParaRPr lang="en-IN"/>
          </a:p>
        </p:txBody>
      </p:sp>
      <p:sp>
        <p:nvSpPr>
          <p:cNvPr id="21" name="Text 18"/>
          <p:cNvSpPr txBox="1"/>
          <p:nvPr/>
        </p:nvSpPr>
        <p:spPr>
          <a:xfrm>
            <a:off x="4663440" y="2834640"/>
            <a:ext cx="4023360" cy="1554480"/>
          </a:xfrm>
          <a:prstGeom prst="rect">
            <a:avLst/>
          </a:prstGeom>
          <a:noFill/>
          <a:ln/>
        </p:spPr>
        <p:txBody>
          <a:bodyPr wrap="square" lIns="50800" tIns="50800" rIns="50800" bIns="50800" rtlCol="0" anchor="ctr"/>
          <a:lstStyle/>
          <a:p>
            <a:pPr marL="0" indent="0" algn="ctr">
              <a:buNone/>
            </a:pPr>
            <a:endParaRPr lang="en-US" sz="1200" dirty="0"/>
          </a:p>
        </p:txBody>
      </p:sp>
      <p:sp>
        <p:nvSpPr>
          <p:cNvPr id="22" name="Text 19"/>
          <p:cNvSpPr txBox="1"/>
          <p:nvPr/>
        </p:nvSpPr>
        <p:spPr>
          <a:xfrm>
            <a:off x="4846320" y="2971800"/>
            <a:ext cx="3657600" cy="365760"/>
          </a:xfrm>
          <a:prstGeom prst="rect">
            <a:avLst/>
          </a:prstGeom>
          <a:noFill/>
          <a:ln/>
        </p:spPr>
        <p:txBody>
          <a:bodyPr wrap="square" lIns="0" tIns="0" rIns="0" bIns="0" rtlCol="0" anchor="ctr"/>
          <a:lstStyle/>
          <a:p>
            <a:pPr marL="0" indent="0">
              <a:buNone/>
            </a:pPr>
            <a:r>
              <a:rPr lang="en-US" sz="1600" b="1" dirty="0">
                <a:solidFill>
                  <a:srgbClr val="22D3EE"/>
                </a:solidFill>
              </a:rPr>
              <a:t>No fee/history record</a:t>
            </a:r>
            <a:endParaRPr lang="en-US" sz="1600" dirty="0"/>
          </a:p>
        </p:txBody>
      </p:sp>
      <p:sp>
        <p:nvSpPr>
          <p:cNvPr id="23" name="Text 20"/>
          <p:cNvSpPr txBox="1"/>
          <p:nvPr/>
        </p:nvSpPr>
        <p:spPr>
          <a:xfrm>
            <a:off x="4846320" y="3474720"/>
            <a:ext cx="3657600" cy="731520"/>
          </a:xfrm>
          <a:prstGeom prst="rect">
            <a:avLst/>
          </a:prstGeom>
          <a:noFill/>
          <a:ln/>
        </p:spPr>
        <p:txBody>
          <a:bodyPr wrap="square" lIns="0" tIns="0" rIns="0" bIns="0" rtlCol="0" anchor="t"/>
          <a:lstStyle/>
          <a:p>
            <a:pPr marL="0" indent="0">
              <a:buNone/>
            </a:pPr>
            <a:r>
              <a:rPr lang="en-US" sz="1400" dirty="0">
                <a:solidFill>
                  <a:srgbClr val="F1F5F9"/>
                </a:solidFill>
              </a:rPr>
              <a:t>Visits and fees need one reliable record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Objectives</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3</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Text 5"/>
          <p:cNvSpPr txBox="1"/>
          <p:nvPr/>
        </p:nvSpPr>
        <p:spPr>
          <a:xfrm>
            <a:off x="548640" y="1097280"/>
            <a:ext cx="8046720" cy="34747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1F5F9"/>
                </a:solidFill>
              </a:rPr>
              <a:t>Show total, occupied and available slots</a:t>
            </a:r>
            <a:endParaRPr lang="en-US" sz="1800" dirty="0"/>
          </a:p>
          <a:p>
            <a:pPr marL="342900" indent="-342900">
              <a:spcAft>
                <a:spcPts val="800"/>
              </a:spcAft>
              <a:buSzPct val="100000"/>
              <a:buChar char="•"/>
            </a:pPr>
            <a:r>
              <a:rPr lang="en-US" sz="1800" dirty="0">
                <a:solidFill>
                  <a:srgbClr val="F1F5F9"/>
                </a:solidFill>
              </a:rPr>
              <a:t>Allocate and release numbered slots (lowest free slot first)</a:t>
            </a:r>
            <a:endParaRPr lang="en-US" sz="1800" dirty="0"/>
          </a:p>
          <a:p>
            <a:pPr marL="342900" indent="-342900">
              <a:spcAft>
                <a:spcPts val="800"/>
              </a:spcAft>
              <a:buSzPct val="100000"/>
              <a:buChar char="•"/>
            </a:pPr>
            <a:r>
              <a:rPr lang="en-US" sz="1800" dirty="0">
                <a:solidFill>
                  <a:srgbClr val="F1F5F9"/>
                </a:solidFill>
              </a:rPr>
              <a:t>Prevent duplicate active registrations</a:t>
            </a:r>
            <a:endParaRPr lang="en-US" sz="1800" dirty="0"/>
          </a:p>
          <a:p>
            <a:pPr marL="342900" indent="-342900">
              <a:spcAft>
                <a:spcPts val="800"/>
              </a:spcAft>
              <a:buSzPct val="100000"/>
              <a:buChar char="•"/>
            </a:pPr>
            <a:r>
              <a:rPr lang="en-US" sz="1800" dirty="0">
                <a:solidFill>
                  <a:srgbClr val="F1F5F9"/>
                </a:solidFill>
              </a:rPr>
              <a:t>Search vehicles by registration number and color</a:t>
            </a:r>
            <a:endParaRPr lang="en-US" sz="1800" dirty="0"/>
          </a:p>
          <a:p>
            <a:pPr marL="342900" indent="-342900">
              <a:spcAft>
                <a:spcPts val="800"/>
              </a:spcAft>
              <a:buSzPct val="100000"/>
              <a:buChar char="•"/>
            </a:pPr>
            <a:r>
              <a:rPr lang="en-US" sz="1800" dirty="0">
                <a:solidFill>
                  <a:srgbClr val="F1F5F9"/>
                </a:solidFill>
              </a:rPr>
              <a:t>Record user-owned history and parking fees</a:t>
            </a:r>
            <a:endParaRPr lang="en-US" sz="1800" dirty="0"/>
          </a:p>
          <a:p>
            <a:pPr marL="342900" indent="-342900">
              <a:spcAft>
                <a:spcPts val="800"/>
              </a:spcAft>
              <a:buSzPct val="100000"/>
              <a:buChar char="•"/>
            </a:pPr>
            <a:r>
              <a:rPr lang="en-US" sz="1800" dirty="0">
                <a:solidFill>
                  <a:srgbClr val="F1F5F9"/>
                </a:solidFill>
              </a:rPr>
              <a:t>Give administrators fee-setting and system-wide views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Proposed Solution and Features</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4</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188720"/>
            <a:ext cx="2194560" cy="914400"/>
          </a:xfrm>
          <a:prstGeom prst="roundRect">
            <a:avLst>
              <a:gd name="adj" fmla="val 8000"/>
            </a:avLst>
          </a:prstGeom>
          <a:solidFill>
            <a:srgbClr val="16233F"/>
          </a:solidFill>
          <a:ln w="12700">
            <a:solidFill>
              <a:srgbClr val="3B82F6"/>
            </a:solidFill>
            <a:prstDash val="solid"/>
          </a:ln>
        </p:spPr>
        <p:txBody>
          <a:bodyPr/>
          <a:lstStyle/>
          <a:p>
            <a:endParaRPr lang="en-IN"/>
          </a:p>
        </p:txBody>
      </p:sp>
      <p:sp>
        <p:nvSpPr>
          <p:cNvPr id="9" name="Text 6"/>
          <p:cNvSpPr txBox="1"/>
          <p:nvPr/>
        </p:nvSpPr>
        <p:spPr>
          <a:xfrm>
            <a:off x="457200" y="1188720"/>
            <a:ext cx="2194560" cy="914400"/>
          </a:xfrm>
          <a:prstGeom prst="rect">
            <a:avLst/>
          </a:prstGeom>
          <a:noFill/>
          <a:ln/>
        </p:spPr>
        <p:txBody>
          <a:bodyPr wrap="square" lIns="50800" tIns="50800" rIns="50800" bIns="50800" rtlCol="0" anchor="ctr"/>
          <a:lstStyle/>
          <a:p>
            <a:pPr marL="0" indent="0" algn="ctr">
              <a:buNone/>
            </a:pPr>
            <a:r>
              <a:rPr lang="en-US" sz="1500" b="1" dirty="0">
                <a:solidFill>
                  <a:srgbClr val="F1F5F9"/>
                </a:solidFill>
              </a:rPr>
              <a:t>Streamlit UI</a:t>
            </a:r>
            <a:endParaRPr lang="en-US" sz="1500" dirty="0"/>
          </a:p>
          <a:p>
            <a:pPr marL="0" indent="0" algn="ctr">
              <a:buNone/>
            </a:pPr>
            <a:r>
              <a:rPr lang="en-US" sz="1500" b="1" dirty="0">
                <a:solidFill>
                  <a:srgbClr val="F1F5F9"/>
                </a:solidFill>
              </a:rPr>
              <a:t>(Python)</a:t>
            </a:r>
            <a:endParaRPr lang="en-US" sz="1500" dirty="0"/>
          </a:p>
        </p:txBody>
      </p:sp>
      <p:sp>
        <p:nvSpPr>
          <p:cNvPr id="10" name="Shape 7"/>
          <p:cNvSpPr/>
          <p:nvPr/>
        </p:nvSpPr>
        <p:spPr>
          <a:xfrm>
            <a:off x="3474720" y="1188720"/>
            <a:ext cx="2194560" cy="914400"/>
          </a:xfrm>
          <a:prstGeom prst="roundRect">
            <a:avLst>
              <a:gd name="adj" fmla="val 8000"/>
            </a:avLst>
          </a:prstGeom>
          <a:solidFill>
            <a:srgbClr val="16233F"/>
          </a:solidFill>
          <a:ln w="12700">
            <a:solidFill>
              <a:srgbClr val="22D3EE"/>
            </a:solidFill>
            <a:prstDash val="solid"/>
          </a:ln>
        </p:spPr>
        <p:txBody>
          <a:bodyPr/>
          <a:lstStyle/>
          <a:p>
            <a:endParaRPr lang="en-IN"/>
          </a:p>
        </p:txBody>
      </p:sp>
      <p:sp>
        <p:nvSpPr>
          <p:cNvPr id="11" name="Text 8"/>
          <p:cNvSpPr txBox="1"/>
          <p:nvPr/>
        </p:nvSpPr>
        <p:spPr>
          <a:xfrm>
            <a:off x="3474720" y="1188720"/>
            <a:ext cx="2194560" cy="914400"/>
          </a:xfrm>
          <a:prstGeom prst="rect">
            <a:avLst/>
          </a:prstGeom>
          <a:noFill/>
          <a:ln/>
        </p:spPr>
        <p:txBody>
          <a:bodyPr wrap="square" lIns="50800" tIns="50800" rIns="50800" bIns="50800" rtlCol="0" anchor="ctr"/>
          <a:lstStyle/>
          <a:p>
            <a:pPr marL="0" indent="0" algn="ctr">
              <a:buNone/>
            </a:pPr>
            <a:r>
              <a:rPr lang="en-US" sz="1500" b="1" dirty="0">
                <a:solidFill>
                  <a:srgbClr val="F1F5F9"/>
                </a:solidFill>
              </a:rPr>
              <a:t>Java Parking Engine</a:t>
            </a:r>
            <a:endParaRPr lang="en-US" sz="1500" dirty="0"/>
          </a:p>
        </p:txBody>
      </p:sp>
      <p:sp>
        <p:nvSpPr>
          <p:cNvPr id="12" name="Shape 9"/>
          <p:cNvSpPr/>
          <p:nvPr/>
        </p:nvSpPr>
        <p:spPr>
          <a:xfrm>
            <a:off x="6492240" y="1188720"/>
            <a:ext cx="2194560" cy="914400"/>
          </a:xfrm>
          <a:prstGeom prst="roundRect">
            <a:avLst>
              <a:gd name="adj" fmla="val 8000"/>
            </a:avLst>
          </a:prstGeom>
          <a:solidFill>
            <a:srgbClr val="16233F"/>
          </a:solidFill>
          <a:ln w="12700">
            <a:solidFill>
              <a:srgbClr val="3B82F6"/>
            </a:solidFill>
            <a:prstDash val="solid"/>
          </a:ln>
        </p:spPr>
        <p:txBody>
          <a:bodyPr/>
          <a:lstStyle/>
          <a:p>
            <a:endParaRPr lang="en-IN"/>
          </a:p>
        </p:txBody>
      </p:sp>
      <p:sp>
        <p:nvSpPr>
          <p:cNvPr id="13" name="Text 10"/>
          <p:cNvSpPr txBox="1"/>
          <p:nvPr/>
        </p:nvSpPr>
        <p:spPr>
          <a:xfrm>
            <a:off x="6492240" y="1188720"/>
            <a:ext cx="2194560" cy="914400"/>
          </a:xfrm>
          <a:prstGeom prst="rect">
            <a:avLst/>
          </a:prstGeom>
          <a:noFill/>
          <a:ln/>
        </p:spPr>
        <p:txBody>
          <a:bodyPr wrap="square" lIns="50800" tIns="50800" rIns="50800" bIns="50800" rtlCol="0" anchor="ctr"/>
          <a:lstStyle/>
          <a:p>
            <a:pPr marL="0" indent="0" algn="ctr">
              <a:buNone/>
            </a:pPr>
            <a:r>
              <a:rPr lang="en-US" sz="1500" b="1" dirty="0">
                <a:solidFill>
                  <a:srgbClr val="F1F5F9"/>
                </a:solidFill>
              </a:rPr>
              <a:t>SQLite Database</a:t>
            </a:r>
            <a:endParaRPr lang="en-US" sz="1500" dirty="0"/>
          </a:p>
        </p:txBody>
      </p:sp>
      <p:sp>
        <p:nvSpPr>
          <p:cNvPr id="14" name="Shape 11"/>
          <p:cNvSpPr/>
          <p:nvPr/>
        </p:nvSpPr>
        <p:spPr>
          <a:xfrm>
            <a:off x="2651760" y="1645920"/>
            <a:ext cx="822960" cy="0"/>
          </a:xfrm>
          <a:prstGeom prst="line">
            <a:avLst/>
          </a:prstGeom>
          <a:noFill/>
          <a:ln w="19050">
            <a:solidFill>
              <a:srgbClr val="22D3EE"/>
            </a:solidFill>
            <a:prstDash val="solid"/>
            <a:tailEnd type="triangle"/>
          </a:ln>
        </p:spPr>
        <p:txBody>
          <a:bodyPr/>
          <a:lstStyle/>
          <a:p>
            <a:endParaRPr lang="en-IN"/>
          </a:p>
        </p:txBody>
      </p:sp>
      <p:sp>
        <p:nvSpPr>
          <p:cNvPr id="15" name="Shape 12"/>
          <p:cNvSpPr/>
          <p:nvPr/>
        </p:nvSpPr>
        <p:spPr>
          <a:xfrm>
            <a:off x="5669280" y="1645920"/>
            <a:ext cx="822960" cy="0"/>
          </a:xfrm>
          <a:prstGeom prst="line">
            <a:avLst/>
          </a:prstGeom>
          <a:noFill/>
          <a:ln w="19050">
            <a:solidFill>
              <a:srgbClr val="22D3EE"/>
            </a:solidFill>
            <a:prstDash val="solid"/>
            <a:tailEnd type="triangle"/>
          </a:ln>
        </p:spPr>
        <p:txBody>
          <a:bodyPr/>
          <a:lstStyle/>
          <a:p>
            <a:endParaRPr lang="en-IN"/>
          </a:p>
        </p:txBody>
      </p:sp>
      <p:sp>
        <p:nvSpPr>
          <p:cNvPr id="16" name="Text 13"/>
          <p:cNvSpPr txBox="1"/>
          <p:nvPr/>
        </p:nvSpPr>
        <p:spPr>
          <a:xfrm>
            <a:off x="548640" y="2560320"/>
            <a:ext cx="80467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1F5F9"/>
                </a:solidFill>
              </a:rPr>
              <a:t>Account registration and sign-in</a:t>
            </a:r>
            <a:endParaRPr lang="en-US" sz="1500" dirty="0"/>
          </a:p>
          <a:p>
            <a:pPr marL="342900" indent="-342900">
              <a:spcAft>
                <a:spcPts val="800"/>
              </a:spcAft>
              <a:buSzPct val="100000"/>
              <a:buChar char="•"/>
            </a:pPr>
            <a:r>
              <a:rPr lang="en-US" sz="1500" dirty="0">
                <a:solidFill>
                  <a:srgbClr val="F1F5F9"/>
                </a:solidFill>
              </a:rPr>
              <a:t>Vehicle registration, parking, removal, search</a:t>
            </a:r>
            <a:endParaRPr lang="en-US" sz="1500" dirty="0"/>
          </a:p>
          <a:p>
            <a:pPr marL="342900" indent="-342900">
              <a:spcAft>
                <a:spcPts val="800"/>
              </a:spcAft>
              <a:buSzPct val="100000"/>
              <a:buChar char="•"/>
            </a:pPr>
            <a:r>
              <a:rPr lang="en-US" sz="1500" dirty="0">
                <a:solidFill>
                  <a:srgbClr val="F1F5F9"/>
                </a:solidFill>
              </a:rPr>
              <a:t>Live slot layout and occupancy display</a:t>
            </a:r>
            <a:endParaRPr lang="en-US" sz="1500" dirty="0"/>
          </a:p>
          <a:p>
            <a:pPr marL="342900" indent="-342900">
              <a:spcAft>
                <a:spcPts val="800"/>
              </a:spcAft>
              <a:buSzPct val="100000"/>
              <a:buChar char="•"/>
            </a:pPr>
            <a:r>
              <a:rPr lang="en-US" sz="1500" dirty="0">
                <a:solidFill>
                  <a:srgbClr val="F1F5F9"/>
                </a:solidFill>
              </a:rPr>
              <a:t>Parking history, fee estimate, recorded payments</a:t>
            </a:r>
            <a:endParaRPr lang="en-US" sz="1500" dirty="0"/>
          </a:p>
          <a:p>
            <a:pPr marL="342900" indent="-342900">
              <a:spcAft>
                <a:spcPts val="800"/>
              </a:spcAft>
              <a:buSzPct val="100000"/>
              <a:buChar char="•"/>
            </a:pPr>
            <a:r>
              <a:rPr lang="en-US" sz="1500" dirty="0">
                <a:solidFill>
                  <a:srgbClr val="F1F5F9"/>
                </a:solidFill>
              </a:rPr>
              <a:t>Admin controls: users and hourly rates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Technology Stack</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5</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2438400"/>
        </p:xfrm>
        <a:graphic>
          <a:graphicData uri="http://schemas.openxmlformats.org/drawingml/2006/table">
            <a:tbl>
              <a:tblPr/>
              <a:tblGrid>
                <a:gridCol w="274320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0B1220"/>
                          </a:solidFill>
                        </a:rPr>
                        <a:t>Area</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tc>
                  <a:txBody>
                    <a:bodyPr/>
                    <a:lstStyle/>
                    <a:p>
                      <a:pPr marL="0" indent="0">
                        <a:buNone/>
                      </a:pPr>
                      <a:r>
                        <a:rPr lang="en-US" sz="1400" b="1" dirty="0">
                          <a:solidFill>
                            <a:srgbClr val="0B1220"/>
                          </a:solidFill>
                        </a:rPr>
                        <a:t>Technology used</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F1F5F9"/>
                          </a:solidFill>
                        </a:rPr>
                        <a:t>Web interface</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400" dirty="0">
                          <a:solidFill>
                            <a:srgbClr val="F1F5F9"/>
                          </a:solidFill>
                        </a:rPr>
                        <a:t>Python + Streamlit</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F1F5F9"/>
                          </a:solidFill>
                        </a:rPr>
                        <a:t>Data display / CSV export</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400" dirty="0">
                          <a:solidFill>
                            <a:srgbClr val="F1F5F9"/>
                          </a:solidFill>
                        </a:rPr>
                        <a:t>pandas</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F1F5F9"/>
                          </a:solidFill>
                        </a:rPr>
                        <a:t>Parking logic</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400" dirty="0">
                          <a:solidFill>
                            <a:srgbClr val="F1F5F9"/>
                          </a:solidFill>
                        </a:rPr>
                        <a:t>Java (ParkingLot, ParkingServer)</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F1F5F9"/>
                          </a:solidFill>
                        </a:rPr>
                        <a:t>Persistence</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400" dirty="0">
                          <a:solidFill>
                            <a:srgbClr val="F1F5F9"/>
                          </a:solidFill>
                        </a:rPr>
                        <a:t>SQLite via built-in sqlite3</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F1F5F9"/>
                          </a:solidFill>
                        </a:rPr>
                        <a:t>Password security</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400" dirty="0">
                          <a:solidFill>
                            <a:srgbClr val="F1F5F9"/>
                          </a:solidFill>
                        </a:rPr>
                        <a:t>hashlib, hmac, secrets</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F1F5F9"/>
                          </a:solidFill>
                        </a:rPr>
                        <a:t>Python-Java link</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400" dirty="0">
                          <a:solidFill>
                            <a:srgbClr val="F1F5F9"/>
                          </a:solidFill>
                        </a:rPr>
                        <a:t>TCP socket, line-based text protocol</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6"/>
                  </a:ext>
                </a:extLst>
              </a:tr>
              <a:tr h="0">
                <a:tc>
                  <a:txBody>
                    <a:bodyPr/>
                    <a:lstStyle/>
                    <a:p>
                      <a:pPr marL="0" indent="0">
                        <a:buNone/>
                      </a:pPr>
                      <a:r>
                        <a:rPr lang="en-US" sz="1400" dirty="0">
                          <a:solidFill>
                            <a:srgbClr val="F1F5F9"/>
                          </a:solidFill>
                        </a:rPr>
                        <a:t>Tests</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400" dirty="0">
                          <a:solidFill>
                            <a:srgbClr val="F1F5F9"/>
                          </a:solidFill>
                        </a:rPr>
                        <a:t>unittest + Java smoke test</a:t>
                      </a:r>
                      <a:endParaRPr lang="en-US" sz="14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System Architecture</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6</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920240"/>
            <a:ext cx="1371600" cy="822960"/>
          </a:xfrm>
          <a:prstGeom prst="roundRect">
            <a:avLst>
              <a:gd name="adj" fmla="val 8889"/>
            </a:avLst>
          </a:prstGeom>
          <a:solidFill>
            <a:srgbClr val="16233F"/>
          </a:solidFill>
          <a:ln w="12700">
            <a:solidFill>
              <a:srgbClr val="3B82F6"/>
            </a:solidFill>
            <a:prstDash val="solid"/>
          </a:ln>
        </p:spPr>
        <p:txBody>
          <a:bodyPr/>
          <a:lstStyle/>
          <a:p>
            <a:endParaRPr lang="en-IN"/>
          </a:p>
        </p:txBody>
      </p:sp>
      <p:sp>
        <p:nvSpPr>
          <p:cNvPr id="9" name="Text 6"/>
          <p:cNvSpPr txBox="1"/>
          <p:nvPr/>
        </p:nvSpPr>
        <p:spPr>
          <a:xfrm>
            <a:off x="457200" y="1920240"/>
            <a:ext cx="1371600" cy="822960"/>
          </a:xfrm>
          <a:prstGeom prst="rect">
            <a:avLst/>
          </a:prstGeom>
          <a:noFill/>
          <a:ln/>
        </p:spPr>
        <p:txBody>
          <a:bodyPr wrap="square" lIns="50800" tIns="50800" rIns="50800" bIns="50800" rtlCol="0" anchor="ctr"/>
          <a:lstStyle/>
          <a:p>
            <a:pPr marL="0" indent="0" algn="ctr">
              <a:buNone/>
            </a:pPr>
            <a:r>
              <a:rPr lang="en-US" sz="1200" b="1" dirty="0">
                <a:solidFill>
                  <a:srgbClr val="F1F5F9"/>
                </a:solidFill>
              </a:rPr>
              <a:t>Browser</a:t>
            </a:r>
            <a:endParaRPr lang="en-US" sz="1200" dirty="0"/>
          </a:p>
        </p:txBody>
      </p:sp>
      <p:sp>
        <p:nvSpPr>
          <p:cNvPr id="10" name="Shape 7"/>
          <p:cNvSpPr/>
          <p:nvPr/>
        </p:nvSpPr>
        <p:spPr>
          <a:xfrm>
            <a:off x="2468880" y="1920240"/>
            <a:ext cx="1828800" cy="822960"/>
          </a:xfrm>
          <a:prstGeom prst="roundRect">
            <a:avLst>
              <a:gd name="adj" fmla="val 8889"/>
            </a:avLst>
          </a:prstGeom>
          <a:solidFill>
            <a:srgbClr val="16233F"/>
          </a:solidFill>
          <a:ln w="12700">
            <a:solidFill>
              <a:srgbClr val="22D3EE"/>
            </a:solidFill>
            <a:prstDash val="solid"/>
          </a:ln>
        </p:spPr>
        <p:txBody>
          <a:bodyPr/>
          <a:lstStyle/>
          <a:p>
            <a:endParaRPr lang="en-IN"/>
          </a:p>
        </p:txBody>
      </p:sp>
      <p:sp>
        <p:nvSpPr>
          <p:cNvPr id="11" name="Text 8"/>
          <p:cNvSpPr txBox="1"/>
          <p:nvPr/>
        </p:nvSpPr>
        <p:spPr>
          <a:xfrm>
            <a:off x="2468880" y="1920240"/>
            <a:ext cx="1828800" cy="822960"/>
          </a:xfrm>
          <a:prstGeom prst="rect">
            <a:avLst/>
          </a:prstGeom>
          <a:noFill/>
          <a:ln/>
        </p:spPr>
        <p:txBody>
          <a:bodyPr wrap="square" lIns="50800" tIns="50800" rIns="50800" bIns="50800" rtlCol="0" anchor="ctr"/>
          <a:lstStyle/>
          <a:p>
            <a:pPr marL="0" indent="0" algn="ctr">
              <a:buNone/>
            </a:pPr>
            <a:r>
              <a:rPr lang="en-US" sz="1200" b="1" dirty="0">
                <a:solidFill>
                  <a:srgbClr val="F1F5F9"/>
                </a:solidFill>
              </a:rPr>
              <a:t>Streamlit app</a:t>
            </a:r>
            <a:endParaRPr lang="en-US" sz="1200" dirty="0"/>
          </a:p>
          <a:p>
            <a:pPr marL="0" indent="0" algn="ctr">
              <a:buNone/>
            </a:pPr>
            <a:r>
              <a:rPr lang="en-US" sz="1200" b="1" dirty="0">
                <a:solidFill>
                  <a:srgbClr val="F1F5F9"/>
                </a:solidFill>
              </a:rPr>
              <a:t>(app.py)</a:t>
            </a:r>
            <a:endParaRPr lang="en-US" sz="1200" dirty="0"/>
          </a:p>
        </p:txBody>
      </p:sp>
      <p:sp>
        <p:nvSpPr>
          <p:cNvPr id="12" name="Shape 9"/>
          <p:cNvSpPr/>
          <p:nvPr/>
        </p:nvSpPr>
        <p:spPr>
          <a:xfrm>
            <a:off x="5120640" y="1097280"/>
            <a:ext cx="1920240" cy="822960"/>
          </a:xfrm>
          <a:prstGeom prst="roundRect">
            <a:avLst>
              <a:gd name="adj" fmla="val 8889"/>
            </a:avLst>
          </a:prstGeom>
          <a:solidFill>
            <a:srgbClr val="16233F"/>
          </a:solidFill>
          <a:ln w="12700">
            <a:solidFill>
              <a:srgbClr val="3B82F6"/>
            </a:solidFill>
            <a:prstDash val="solid"/>
          </a:ln>
        </p:spPr>
        <p:txBody>
          <a:bodyPr/>
          <a:lstStyle/>
          <a:p>
            <a:endParaRPr lang="en-IN"/>
          </a:p>
        </p:txBody>
      </p:sp>
      <p:sp>
        <p:nvSpPr>
          <p:cNvPr id="13" name="Text 10"/>
          <p:cNvSpPr txBox="1"/>
          <p:nvPr/>
        </p:nvSpPr>
        <p:spPr>
          <a:xfrm>
            <a:off x="5120640" y="1097280"/>
            <a:ext cx="1920240" cy="822960"/>
          </a:xfrm>
          <a:prstGeom prst="rect">
            <a:avLst/>
          </a:prstGeom>
          <a:noFill/>
          <a:ln/>
        </p:spPr>
        <p:txBody>
          <a:bodyPr wrap="square" lIns="50800" tIns="50800" rIns="50800" bIns="50800" rtlCol="0" anchor="ctr"/>
          <a:lstStyle/>
          <a:p>
            <a:pPr marL="0" indent="0" algn="ctr">
              <a:buNone/>
            </a:pPr>
            <a:r>
              <a:rPr lang="en-US" sz="1200" b="1" dirty="0">
                <a:solidFill>
                  <a:srgbClr val="F1F5F9"/>
                </a:solidFill>
              </a:rPr>
              <a:t>Java ParkingServer</a:t>
            </a:r>
            <a:endParaRPr lang="en-US" sz="1200" dirty="0"/>
          </a:p>
          <a:p>
            <a:pPr marL="0" indent="0" algn="ctr">
              <a:buNone/>
            </a:pPr>
            <a:r>
              <a:rPr lang="en-US" sz="1200" b="1" dirty="0">
                <a:solidFill>
                  <a:srgbClr val="F1F5F9"/>
                </a:solidFill>
              </a:rPr>
              <a:t>127.0.0.1:5000</a:t>
            </a:r>
            <a:endParaRPr lang="en-US" sz="1200" dirty="0"/>
          </a:p>
        </p:txBody>
      </p:sp>
      <p:sp>
        <p:nvSpPr>
          <p:cNvPr id="14" name="Shape 11"/>
          <p:cNvSpPr/>
          <p:nvPr/>
        </p:nvSpPr>
        <p:spPr>
          <a:xfrm>
            <a:off x="5120640" y="2377440"/>
            <a:ext cx="3566160" cy="1005840"/>
          </a:xfrm>
          <a:prstGeom prst="roundRect">
            <a:avLst>
              <a:gd name="adj" fmla="val 7273"/>
            </a:avLst>
          </a:prstGeom>
          <a:solidFill>
            <a:srgbClr val="16233F"/>
          </a:solidFill>
          <a:ln w="12700">
            <a:solidFill>
              <a:srgbClr val="3B82F6"/>
            </a:solidFill>
            <a:prstDash val="solid"/>
          </a:ln>
        </p:spPr>
        <p:txBody>
          <a:bodyPr/>
          <a:lstStyle/>
          <a:p>
            <a:endParaRPr lang="en-IN"/>
          </a:p>
        </p:txBody>
      </p:sp>
      <p:sp>
        <p:nvSpPr>
          <p:cNvPr id="15" name="Text 12"/>
          <p:cNvSpPr txBox="1"/>
          <p:nvPr/>
        </p:nvSpPr>
        <p:spPr>
          <a:xfrm>
            <a:off x="5120640" y="2377440"/>
            <a:ext cx="3566160" cy="1005840"/>
          </a:xfrm>
          <a:prstGeom prst="rect">
            <a:avLst/>
          </a:prstGeom>
          <a:noFill/>
          <a:ln/>
        </p:spPr>
        <p:txBody>
          <a:bodyPr wrap="square" lIns="50800" tIns="50800" rIns="50800" bIns="50800" rtlCol="0" anchor="ctr"/>
          <a:lstStyle/>
          <a:p>
            <a:pPr marL="0" indent="0" algn="ctr">
              <a:buNone/>
            </a:pPr>
            <a:r>
              <a:rPr lang="en-US" sz="1200" dirty="0">
                <a:solidFill>
                  <a:srgbClr val="F1F5F9"/>
                </a:solidFill>
              </a:rPr>
              <a:t>ParkingLot (in-memory)</a:t>
            </a:r>
            <a:endParaRPr lang="en-US" sz="1200" dirty="0"/>
          </a:p>
          <a:p>
            <a:pPr marL="0" indent="0" algn="ctr">
              <a:buNone/>
            </a:pPr>
            <a:r>
              <a:rPr lang="en-US" sz="1200" dirty="0">
                <a:solidFill>
                  <a:srgbClr val="F1F5F9"/>
                </a:solidFill>
              </a:rPr>
              <a:t>TreeSet | HashMap | ArrayList</a:t>
            </a:r>
            <a:endParaRPr lang="en-US" sz="1200" dirty="0"/>
          </a:p>
        </p:txBody>
      </p:sp>
      <p:sp>
        <p:nvSpPr>
          <p:cNvPr id="16" name="Shape 13"/>
          <p:cNvSpPr/>
          <p:nvPr/>
        </p:nvSpPr>
        <p:spPr>
          <a:xfrm>
            <a:off x="6400800" y="3657600"/>
            <a:ext cx="2286000" cy="731520"/>
          </a:xfrm>
          <a:prstGeom prst="roundRect">
            <a:avLst>
              <a:gd name="adj" fmla="val 10000"/>
            </a:avLst>
          </a:prstGeom>
          <a:solidFill>
            <a:srgbClr val="16233F"/>
          </a:solidFill>
          <a:ln w="12700">
            <a:solidFill>
              <a:srgbClr val="3B82F6"/>
            </a:solidFill>
            <a:prstDash val="solid"/>
          </a:ln>
        </p:spPr>
        <p:txBody>
          <a:bodyPr/>
          <a:lstStyle/>
          <a:p>
            <a:endParaRPr lang="en-IN"/>
          </a:p>
        </p:txBody>
      </p:sp>
      <p:sp>
        <p:nvSpPr>
          <p:cNvPr id="17" name="Text 14"/>
          <p:cNvSpPr txBox="1"/>
          <p:nvPr/>
        </p:nvSpPr>
        <p:spPr>
          <a:xfrm>
            <a:off x="6400800" y="3657600"/>
            <a:ext cx="2286000" cy="731520"/>
          </a:xfrm>
          <a:prstGeom prst="rect">
            <a:avLst/>
          </a:prstGeom>
          <a:noFill/>
          <a:ln/>
        </p:spPr>
        <p:txBody>
          <a:bodyPr wrap="square" lIns="50800" tIns="50800" rIns="50800" bIns="50800" rtlCol="0" anchor="ctr"/>
          <a:lstStyle/>
          <a:p>
            <a:pPr marL="0" indent="0" algn="ctr">
              <a:buNone/>
            </a:pPr>
            <a:r>
              <a:rPr lang="en-US" sz="1200" b="1" dirty="0">
                <a:solidFill>
                  <a:srgbClr val="F1F5F9"/>
                </a:solidFill>
              </a:rPr>
              <a:t>SQLite</a:t>
            </a:r>
            <a:endParaRPr lang="en-US" sz="1200" dirty="0"/>
          </a:p>
          <a:p>
            <a:pPr marL="0" indent="0" algn="ctr">
              <a:buNone/>
            </a:pPr>
            <a:r>
              <a:rPr lang="en-US" sz="1200" b="1" dirty="0">
                <a:solidFill>
                  <a:srgbClr val="F1F5F9"/>
                </a:solidFill>
              </a:rPr>
              <a:t>goparking.db</a:t>
            </a:r>
            <a:endParaRPr lang="en-US" sz="1200" dirty="0"/>
          </a:p>
        </p:txBody>
      </p:sp>
      <p:sp>
        <p:nvSpPr>
          <p:cNvPr id="18" name="Shape 15"/>
          <p:cNvSpPr/>
          <p:nvPr/>
        </p:nvSpPr>
        <p:spPr>
          <a:xfrm>
            <a:off x="1828800" y="2331720"/>
            <a:ext cx="640080" cy="0"/>
          </a:xfrm>
          <a:prstGeom prst="line">
            <a:avLst/>
          </a:prstGeom>
          <a:noFill/>
          <a:ln w="19050">
            <a:solidFill>
              <a:srgbClr val="22D3EE"/>
            </a:solidFill>
            <a:prstDash val="solid"/>
            <a:tailEnd type="triangle"/>
          </a:ln>
        </p:spPr>
        <p:txBody>
          <a:bodyPr/>
          <a:lstStyle/>
          <a:p>
            <a:endParaRPr lang="en-IN"/>
          </a:p>
        </p:txBody>
      </p:sp>
      <p:sp>
        <p:nvSpPr>
          <p:cNvPr id="19" name="Shape 16"/>
          <p:cNvSpPr/>
          <p:nvPr/>
        </p:nvSpPr>
        <p:spPr>
          <a:xfrm flipV="1">
            <a:off x="4297680" y="1554480"/>
            <a:ext cx="822960" cy="548640"/>
          </a:xfrm>
          <a:prstGeom prst="line">
            <a:avLst/>
          </a:prstGeom>
          <a:noFill/>
          <a:ln w="19050">
            <a:solidFill>
              <a:srgbClr val="22D3EE"/>
            </a:solidFill>
            <a:prstDash val="solid"/>
            <a:tailEnd type="triangle"/>
          </a:ln>
        </p:spPr>
        <p:txBody>
          <a:bodyPr/>
          <a:lstStyle/>
          <a:p>
            <a:endParaRPr lang="en-IN"/>
          </a:p>
        </p:txBody>
      </p:sp>
      <p:sp>
        <p:nvSpPr>
          <p:cNvPr id="20" name="Shape 17"/>
          <p:cNvSpPr/>
          <p:nvPr/>
        </p:nvSpPr>
        <p:spPr>
          <a:xfrm>
            <a:off x="6080760" y="1920240"/>
            <a:ext cx="0" cy="457200"/>
          </a:xfrm>
          <a:prstGeom prst="line">
            <a:avLst/>
          </a:prstGeom>
          <a:noFill/>
          <a:ln w="19050">
            <a:solidFill>
              <a:srgbClr val="22D3EE"/>
            </a:solidFill>
            <a:prstDash val="solid"/>
            <a:tailEnd type="triangle"/>
          </a:ln>
        </p:spPr>
        <p:txBody>
          <a:bodyPr/>
          <a:lstStyle/>
          <a:p>
            <a:endParaRPr lang="en-IN"/>
          </a:p>
        </p:txBody>
      </p:sp>
      <p:sp>
        <p:nvSpPr>
          <p:cNvPr id="21" name="Shape 18"/>
          <p:cNvSpPr/>
          <p:nvPr/>
        </p:nvSpPr>
        <p:spPr>
          <a:xfrm>
            <a:off x="3840480" y="2743200"/>
            <a:ext cx="2560320" cy="1188720"/>
          </a:xfrm>
          <a:prstGeom prst="line">
            <a:avLst/>
          </a:prstGeom>
          <a:noFill/>
          <a:ln w="19050">
            <a:solidFill>
              <a:srgbClr val="22D3EE"/>
            </a:solidFill>
            <a:prstDash val="solid"/>
            <a:tailEnd type="triangle"/>
          </a:ln>
        </p:spPr>
        <p:txBody>
          <a:bodyPr/>
          <a:lstStyle/>
          <a:p>
            <a:endParaRPr lang="en-IN"/>
          </a:p>
        </p:txBody>
      </p:sp>
      <p:sp>
        <p:nvSpPr>
          <p:cNvPr id="22" name="Text 19"/>
          <p:cNvSpPr txBox="1"/>
          <p:nvPr/>
        </p:nvSpPr>
        <p:spPr>
          <a:xfrm>
            <a:off x="3931920" y="1371600"/>
            <a:ext cx="1188720" cy="274320"/>
          </a:xfrm>
          <a:prstGeom prst="rect">
            <a:avLst/>
          </a:prstGeom>
          <a:noFill/>
          <a:ln/>
        </p:spPr>
        <p:txBody>
          <a:bodyPr wrap="square" lIns="0" tIns="0" rIns="0" bIns="0" rtlCol="0" anchor="ctr"/>
          <a:lstStyle/>
          <a:p>
            <a:pPr marL="0" indent="0">
              <a:buNone/>
            </a:pPr>
            <a:r>
              <a:rPr lang="en-US" sz="1000" dirty="0">
                <a:solidFill>
                  <a:srgbClr val="94A3B8"/>
                </a:solidFill>
              </a:rPr>
              <a:t>TCP commands</a:t>
            </a:r>
            <a:endParaRPr lang="en-US" sz="1000" dirty="0"/>
          </a:p>
        </p:txBody>
      </p:sp>
      <p:sp>
        <p:nvSpPr>
          <p:cNvPr id="23" name="Text 20"/>
          <p:cNvSpPr txBox="1"/>
          <p:nvPr/>
        </p:nvSpPr>
        <p:spPr>
          <a:xfrm>
            <a:off x="3017520" y="3566160"/>
            <a:ext cx="1371600" cy="274320"/>
          </a:xfrm>
          <a:prstGeom prst="rect">
            <a:avLst/>
          </a:prstGeom>
          <a:noFill/>
          <a:ln/>
        </p:spPr>
        <p:txBody>
          <a:bodyPr wrap="square" lIns="0" tIns="0" rIns="0" bIns="0" rtlCol="0" anchor="ctr"/>
          <a:lstStyle/>
          <a:p>
            <a:pPr marL="0" indent="0">
              <a:buNone/>
            </a:pPr>
            <a:r>
              <a:rPr lang="en-US" sz="1000" dirty="0">
                <a:solidFill>
                  <a:srgbClr val="94A3B8"/>
                </a:solidFill>
              </a:rPr>
              <a:t>SQL queries</a:t>
            </a:r>
            <a:endParaRPr lang="en-US" sz="1000" dirty="0"/>
          </a:p>
        </p:txBody>
      </p:sp>
      <p:sp>
        <p:nvSpPr>
          <p:cNvPr id="24" name="Text 21"/>
          <p:cNvSpPr txBox="1"/>
          <p:nvPr/>
        </p:nvSpPr>
        <p:spPr>
          <a:xfrm>
            <a:off x="596130" y="4160520"/>
            <a:ext cx="5303520" cy="45720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Application Workflow</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7</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Text 5"/>
          <p:cNvSpPr txBox="1"/>
          <p:nvPr/>
        </p:nvSpPr>
        <p:spPr>
          <a:xfrm>
            <a:off x="457200" y="1005840"/>
            <a:ext cx="2743200" cy="274320"/>
          </a:xfrm>
          <a:prstGeom prst="rect">
            <a:avLst/>
          </a:prstGeom>
          <a:noFill/>
          <a:ln/>
        </p:spPr>
        <p:txBody>
          <a:bodyPr wrap="square" lIns="0" tIns="0" rIns="0" bIns="0" rtlCol="0" anchor="ctr"/>
          <a:lstStyle/>
          <a:p>
            <a:pPr marL="0" indent="0">
              <a:buNone/>
            </a:pPr>
            <a:r>
              <a:rPr lang="en-US" sz="1200" b="1" dirty="0">
                <a:solidFill>
                  <a:srgbClr val="22D3EE"/>
                </a:solidFill>
              </a:rPr>
              <a:t>VEHICLE ENTRY</a:t>
            </a:r>
            <a:endParaRPr lang="en-US" sz="1200" dirty="0"/>
          </a:p>
        </p:txBody>
      </p:sp>
      <p:sp>
        <p:nvSpPr>
          <p:cNvPr id="9" name="Shape 6"/>
          <p:cNvSpPr/>
          <p:nvPr/>
        </p:nvSpPr>
        <p:spPr>
          <a:xfrm>
            <a:off x="457200" y="132588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10" name="Text 7"/>
          <p:cNvSpPr txBox="1"/>
          <p:nvPr/>
        </p:nvSpPr>
        <p:spPr>
          <a:xfrm>
            <a:off x="457200" y="132588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Submit reg,</a:t>
            </a:r>
            <a:endParaRPr lang="en-US" sz="1100" dirty="0"/>
          </a:p>
          <a:p>
            <a:pPr marL="0" indent="0" algn="ctr">
              <a:buNone/>
            </a:pPr>
            <a:r>
              <a:rPr lang="en-US" sz="1100" dirty="0">
                <a:solidFill>
                  <a:srgbClr val="F1F5F9"/>
                </a:solidFill>
              </a:rPr>
              <a:t>color, type</a:t>
            </a:r>
            <a:endParaRPr lang="en-US" sz="1100" dirty="0"/>
          </a:p>
        </p:txBody>
      </p:sp>
      <p:sp>
        <p:nvSpPr>
          <p:cNvPr id="11" name="Shape 8"/>
          <p:cNvSpPr/>
          <p:nvPr/>
        </p:nvSpPr>
        <p:spPr>
          <a:xfrm>
            <a:off x="1920240" y="1755648"/>
            <a:ext cx="256032" cy="0"/>
          </a:xfrm>
          <a:prstGeom prst="line">
            <a:avLst/>
          </a:prstGeom>
          <a:noFill/>
          <a:ln w="19050">
            <a:solidFill>
              <a:srgbClr val="22D3EE"/>
            </a:solidFill>
            <a:prstDash val="solid"/>
            <a:tailEnd type="triangle"/>
          </a:ln>
        </p:spPr>
        <p:txBody>
          <a:bodyPr/>
          <a:lstStyle/>
          <a:p>
            <a:endParaRPr lang="en-IN"/>
          </a:p>
        </p:txBody>
      </p:sp>
      <p:sp>
        <p:nvSpPr>
          <p:cNvPr id="12" name="Shape 9"/>
          <p:cNvSpPr/>
          <p:nvPr/>
        </p:nvSpPr>
        <p:spPr>
          <a:xfrm>
            <a:off x="2176272" y="132588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13" name="Text 10"/>
          <p:cNvSpPr txBox="1"/>
          <p:nvPr/>
        </p:nvSpPr>
        <p:spPr>
          <a:xfrm>
            <a:off x="2176272" y="132588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Python: save</a:t>
            </a:r>
            <a:endParaRPr lang="en-US" sz="1100" dirty="0"/>
          </a:p>
          <a:p>
            <a:pPr marL="0" indent="0" algn="ctr">
              <a:buNone/>
            </a:pPr>
            <a:r>
              <a:rPr lang="en-US" sz="1100" dirty="0">
                <a:solidFill>
                  <a:srgbClr val="F1F5F9"/>
                </a:solidFill>
              </a:rPr>
              <a:t>vehicle (SQLite)</a:t>
            </a:r>
            <a:endParaRPr lang="en-US" sz="1100" dirty="0"/>
          </a:p>
        </p:txBody>
      </p:sp>
      <p:sp>
        <p:nvSpPr>
          <p:cNvPr id="14" name="Shape 11"/>
          <p:cNvSpPr/>
          <p:nvPr/>
        </p:nvSpPr>
        <p:spPr>
          <a:xfrm>
            <a:off x="3639312" y="1755648"/>
            <a:ext cx="256032" cy="0"/>
          </a:xfrm>
          <a:prstGeom prst="line">
            <a:avLst/>
          </a:prstGeom>
          <a:noFill/>
          <a:ln w="19050">
            <a:solidFill>
              <a:srgbClr val="22D3EE"/>
            </a:solidFill>
            <a:prstDash val="solid"/>
            <a:tailEnd type="triangle"/>
          </a:ln>
        </p:spPr>
        <p:txBody>
          <a:bodyPr/>
          <a:lstStyle/>
          <a:p>
            <a:endParaRPr lang="en-IN"/>
          </a:p>
        </p:txBody>
      </p:sp>
      <p:sp>
        <p:nvSpPr>
          <p:cNvPr id="15" name="Shape 12"/>
          <p:cNvSpPr/>
          <p:nvPr/>
        </p:nvSpPr>
        <p:spPr>
          <a:xfrm>
            <a:off x="3895344" y="132588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16" name="Text 13"/>
          <p:cNvSpPr txBox="1"/>
          <p:nvPr/>
        </p:nvSpPr>
        <p:spPr>
          <a:xfrm>
            <a:off x="3895344" y="132588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Java PARK:</a:t>
            </a:r>
            <a:endParaRPr lang="en-US" sz="1100" dirty="0"/>
          </a:p>
          <a:p>
            <a:pPr marL="0" indent="0" algn="ctr">
              <a:buNone/>
            </a:pPr>
            <a:r>
              <a:rPr lang="en-US" sz="1100" dirty="0">
                <a:solidFill>
                  <a:srgbClr val="F1F5F9"/>
                </a:solidFill>
              </a:rPr>
              <a:t>lowest free slot</a:t>
            </a:r>
            <a:endParaRPr lang="en-US" sz="1100" dirty="0"/>
          </a:p>
        </p:txBody>
      </p:sp>
      <p:sp>
        <p:nvSpPr>
          <p:cNvPr id="17" name="Shape 14"/>
          <p:cNvSpPr/>
          <p:nvPr/>
        </p:nvSpPr>
        <p:spPr>
          <a:xfrm>
            <a:off x="5358384" y="1755648"/>
            <a:ext cx="256032" cy="0"/>
          </a:xfrm>
          <a:prstGeom prst="line">
            <a:avLst/>
          </a:prstGeom>
          <a:noFill/>
          <a:ln w="19050">
            <a:solidFill>
              <a:srgbClr val="22D3EE"/>
            </a:solidFill>
            <a:prstDash val="solid"/>
            <a:tailEnd type="triangle"/>
          </a:ln>
        </p:spPr>
        <p:txBody>
          <a:bodyPr/>
          <a:lstStyle/>
          <a:p>
            <a:endParaRPr lang="en-IN"/>
          </a:p>
        </p:txBody>
      </p:sp>
      <p:sp>
        <p:nvSpPr>
          <p:cNvPr id="18" name="Shape 15"/>
          <p:cNvSpPr/>
          <p:nvPr/>
        </p:nvSpPr>
        <p:spPr>
          <a:xfrm>
            <a:off x="5614416" y="132588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19" name="Text 16"/>
          <p:cNvSpPr txBox="1"/>
          <p:nvPr/>
        </p:nvSpPr>
        <p:spPr>
          <a:xfrm>
            <a:off x="5614416" y="132588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Python: insert</a:t>
            </a:r>
            <a:endParaRPr lang="en-US" sz="1100" dirty="0"/>
          </a:p>
          <a:p>
            <a:pPr marL="0" indent="0" algn="ctr">
              <a:buNone/>
            </a:pPr>
            <a:r>
              <a:rPr lang="en-US" sz="1100" dirty="0">
                <a:solidFill>
                  <a:srgbClr val="F1F5F9"/>
                </a:solidFill>
              </a:rPr>
              <a:t>active event</a:t>
            </a:r>
            <a:endParaRPr lang="en-US" sz="1100" dirty="0"/>
          </a:p>
        </p:txBody>
      </p:sp>
      <p:sp>
        <p:nvSpPr>
          <p:cNvPr id="20" name="Shape 17"/>
          <p:cNvSpPr/>
          <p:nvPr/>
        </p:nvSpPr>
        <p:spPr>
          <a:xfrm>
            <a:off x="7077456" y="1755648"/>
            <a:ext cx="256032" cy="0"/>
          </a:xfrm>
          <a:prstGeom prst="line">
            <a:avLst/>
          </a:prstGeom>
          <a:noFill/>
          <a:ln w="19050">
            <a:solidFill>
              <a:srgbClr val="22D3EE"/>
            </a:solidFill>
            <a:prstDash val="solid"/>
            <a:tailEnd type="triangle"/>
          </a:ln>
        </p:spPr>
        <p:txBody>
          <a:bodyPr/>
          <a:lstStyle/>
          <a:p>
            <a:endParaRPr lang="en-IN"/>
          </a:p>
        </p:txBody>
      </p:sp>
      <p:sp>
        <p:nvSpPr>
          <p:cNvPr id="21" name="Shape 18"/>
          <p:cNvSpPr/>
          <p:nvPr/>
        </p:nvSpPr>
        <p:spPr>
          <a:xfrm>
            <a:off x="7333488" y="132588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22" name="Text 19"/>
          <p:cNvSpPr txBox="1"/>
          <p:nvPr/>
        </p:nvSpPr>
        <p:spPr>
          <a:xfrm>
            <a:off x="7333488" y="132588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Slot shown</a:t>
            </a:r>
            <a:endParaRPr lang="en-US" sz="1100" dirty="0"/>
          </a:p>
          <a:p>
            <a:pPr marL="0" indent="0" algn="ctr">
              <a:buNone/>
            </a:pPr>
            <a:r>
              <a:rPr lang="en-US" sz="1100" dirty="0">
                <a:solidFill>
                  <a:srgbClr val="F1F5F9"/>
                </a:solidFill>
              </a:rPr>
              <a:t>to user</a:t>
            </a:r>
            <a:endParaRPr lang="en-US" sz="1100" dirty="0"/>
          </a:p>
        </p:txBody>
      </p:sp>
      <p:sp>
        <p:nvSpPr>
          <p:cNvPr id="23" name="Text 20"/>
          <p:cNvSpPr txBox="1"/>
          <p:nvPr/>
        </p:nvSpPr>
        <p:spPr>
          <a:xfrm>
            <a:off x="457200" y="2651760"/>
            <a:ext cx="2743200" cy="274320"/>
          </a:xfrm>
          <a:prstGeom prst="rect">
            <a:avLst/>
          </a:prstGeom>
          <a:noFill/>
          <a:ln/>
        </p:spPr>
        <p:txBody>
          <a:bodyPr wrap="square" lIns="0" tIns="0" rIns="0" bIns="0" rtlCol="0" anchor="ctr"/>
          <a:lstStyle/>
          <a:p>
            <a:pPr marL="0" indent="0">
              <a:buNone/>
            </a:pPr>
            <a:r>
              <a:rPr lang="en-US" sz="1200" b="1" dirty="0">
                <a:solidFill>
                  <a:srgbClr val="22D3EE"/>
                </a:solidFill>
              </a:rPr>
              <a:t>VEHICLE EXIT</a:t>
            </a:r>
            <a:endParaRPr lang="en-US" sz="1200" dirty="0"/>
          </a:p>
        </p:txBody>
      </p:sp>
      <p:sp>
        <p:nvSpPr>
          <p:cNvPr id="24" name="Shape 21"/>
          <p:cNvSpPr/>
          <p:nvPr/>
        </p:nvSpPr>
        <p:spPr>
          <a:xfrm>
            <a:off x="457200" y="297180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25" name="Text 22"/>
          <p:cNvSpPr txBox="1"/>
          <p:nvPr/>
        </p:nvSpPr>
        <p:spPr>
          <a:xfrm>
            <a:off x="457200" y="297180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Select vehicle</a:t>
            </a:r>
            <a:endParaRPr lang="en-US" sz="1100" dirty="0"/>
          </a:p>
          <a:p>
            <a:pPr marL="0" indent="0" algn="ctr">
              <a:buNone/>
            </a:pPr>
            <a:r>
              <a:rPr lang="en-US" sz="1100" dirty="0">
                <a:solidFill>
                  <a:srgbClr val="F1F5F9"/>
                </a:solidFill>
              </a:rPr>
              <a:t>(ownership check)</a:t>
            </a:r>
            <a:endParaRPr lang="en-US" sz="1100" dirty="0"/>
          </a:p>
        </p:txBody>
      </p:sp>
      <p:sp>
        <p:nvSpPr>
          <p:cNvPr id="26" name="Shape 23"/>
          <p:cNvSpPr/>
          <p:nvPr/>
        </p:nvSpPr>
        <p:spPr>
          <a:xfrm>
            <a:off x="1920240" y="3401568"/>
            <a:ext cx="256032" cy="0"/>
          </a:xfrm>
          <a:prstGeom prst="line">
            <a:avLst/>
          </a:prstGeom>
          <a:noFill/>
          <a:ln w="19050">
            <a:solidFill>
              <a:srgbClr val="22D3EE"/>
            </a:solidFill>
            <a:prstDash val="solid"/>
            <a:tailEnd type="triangle"/>
          </a:ln>
        </p:spPr>
        <p:txBody>
          <a:bodyPr/>
          <a:lstStyle/>
          <a:p>
            <a:endParaRPr lang="en-IN"/>
          </a:p>
        </p:txBody>
      </p:sp>
      <p:sp>
        <p:nvSpPr>
          <p:cNvPr id="27" name="Shape 24"/>
          <p:cNvSpPr/>
          <p:nvPr/>
        </p:nvSpPr>
        <p:spPr>
          <a:xfrm>
            <a:off x="2176272" y="2971800"/>
            <a:ext cx="1463040" cy="868680"/>
          </a:xfrm>
          <a:prstGeom prst="roundRect">
            <a:avLst>
              <a:gd name="adj" fmla="val 8421"/>
            </a:avLst>
          </a:prstGeom>
          <a:solidFill>
            <a:srgbClr val="16233F"/>
          </a:solidFill>
          <a:ln w="12700">
            <a:solidFill>
              <a:srgbClr val="22D3EE"/>
            </a:solidFill>
            <a:prstDash val="solid"/>
          </a:ln>
        </p:spPr>
        <p:txBody>
          <a:bodyPr/>
          <a:lstStyle/>
          <a:p>
            <a:endParaRPr lang="en-IN"/>
          </a:p>
        </p:txBody>
      </p:sp>
      <p:sp>
        <p:nvSpPr>
          <p:cNvPr id="28" name="Text 25"/>
          <p:cNvSpPr txBox="1"/>
          <p:nvPr/>
        </p:nvSpPr>
        <p:spPr>
          <a:xfrm>
            <a:off x="2176272" y="297180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Java REMOVE:</a:t>
            </a:r>
            <a:endParaRPr lang="en-US" sz="1100" dirty="0"/>
          </a:p>
          <a:p>
            <a:pPr marL="0" indent="0" algn="ctr">
              <a:buNone/>
            </a:pPr>
            <a:r>
              <a:rPr lang="en-US" sz="1100" dirty="0">
                <a:solidFill>
                  <a:srgbClr val="F1F5F9"/>
                </a:solidFill>
              </a:rPr>
              <a:t>free the slot</a:t>
            </a:r>
            <a:endParaRPr lang="en-US" sz="1100" dirty="0"/>
          </a:p>
        </p:txBody>
      </p:sp>
      <p:sp>
        <p:nvSpPr>
          <p:cNvPr id="29" name="Shape 26"/>
          <p:cNvSpPr/>
          <p:nvPr/>
        </p:nvSpPr>
        <p:spPr>
          <a:xfrm>
            <a:off x="3639312" y="3401568"/>
            <a:ext cx="256032" cy="0"/>
          </a:xfrm>
          <a:prstGeom prst="line">
            <a:avLst/>
          </a:prstGeom>
          <a:noFill/>
          <a:ln w="19050">
            <a:solidFill>
              <a:srgbClr val="22D3EE"/>
            </a:solidFill>
            <a:prstDash val="solid"/>
            <a:tailEnd type="triangle"/>
          </a:ln>
        </p:spPr>
        <p:txBody>
          <a:bodyPr/>
          <a:lstStyle/>
          <a:p>
            <a:endParaRPr lang="en-IN"/>
          </a:p>
        </p:txBody>
      </p:sp>
      <p:sp>
        <p:nvSpPr>
          <p:cNvPr id="30" name="Shape 27"/>
          <p:cNvSpPr/>
          <p:nvPr/>
        </p:nvSpPr>
        <p:spPr>
          <a:xfrm>
            <a:off x="3895344" y="297180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31" name="Text 28"/>
          <p:cNvSpPr txBox="1"/>
          <p:nvPr/>
        </p:nvSpPr>
        <p:spPr>
          <a:xfrm>
            <a:off x="3895344" y="297180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Python: compute</a:t>
            </a:r>
            <a:endParaRPr lang="en-US" sz="1100" dirty="0"/>
          </a:p>
          <a:p>
            <a:pPr marL="0" indent="0" algn="ctr">
              <a:buNone/>
            </a:pPr>
            <a:r>
              <a:rPr lang="en-US" sz="1100" dirty="0">
                <a:solidFill>
                  <a:srgbClr val="F1F5F9"/>
                </a:solidFill>
              </a:rPr>
              <a:t>fee (hours)</a:t>
            </a:r>
            <a:endParaRPr lang="en-US" sz="1100" dirty="0"/>
          </a:p>
        </p:txBody>
      </p:sp>
      <p:sp>
        <p:nvSpPr>
          <p:cNvPr id="32" name="Shape 29"/>
          <p:cNvSpPr/>
          <p:nvPr/>
        </p:nvSpPr>
        <p:spPr>
          <a:xfrm>
            <a:off x="5358384" y="3401568"/>
            <a:ext cx="256032" cy="0"/>
          </a:xfrm>
          <a:prstGeom prst="line">
            <a:avLst/>
          </a:prstGeom>
          <a:noFill/>
          <a:ln w="19050">
            <a:solidFill>
              <a:srgbClr val="22D3EE"/>
            </a:solidFill>
            <a:prstDash val="solid"/>
            <a:tailEnd type="triangle"/>
          </a:ln>
        </p:spPr>
        <p:txBody>
          <a:bodyPr/>
          <a:lstStyle/>
          <a:p>
            <a:endParaRPr lang="en-IN"/>
          </a:p>
        </p:txBody>
      </p:sp>
      <p:sp>
        <p:nvSpPr>
          <p:cNvPr id="33" name="Shape 30"/>
          <p:cNvSpPr/>
          <p:nvPr/>
        </p:nvSpPr>
        <p:spPr>
          <a:xfrm>
            <a:off x="5614416" y="297180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34" name="Text 31"/>
          <p:cNvSpPr txBox="1"/>
          <p:nvPr/>
        </p:nvSpPr>
        <p:spPr>
          <a:xfrm>
            <a:off x="5614416" y="297180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Update event +</a:t>
            </a:r>
            <a:endParaRPr lang="en-US" sz="1100" dirty="0"/>
          </a:p>
          <a:p>
            <a:pPr marL="0" indent="0" algn="ctr">
              <a:buNone/>
            </a:pPr>
            <a:r>
              <a:rPr lang="en-US" sz="1100" dirty="0">
                <a:solidFill>
                  <a:srgbClr val="F1F5F9"/>
                </a:solidFill>
              </a:rPr>
              <a:t>insert payment</a:t>
            </a:r>
            <a:endParaRPr lang="en-US" sz="1100" dirty="0"/>
          </a:p>
        </p:txBody>
      </p:sp>
      <p:sp>
        <p:nvSpPr>
          <p:cNvPr id="35" name="Shape 32"/>
          <p:cNvSpPr/>
          <p:nvPr/>
        </p:nvSpPr>
        <p:spPr>
          <a:xfrm>
            <a:off x="7077456" y="3401568"/>
            <a:ext cx="256032" cy="0"/>
          </a:xfrm>
          <a:prstGeom prst="line">
            <a:avLst/>
          </a:prstGeom>
          <a:noFill/>
          <a:ln w="19050">
            <a:solidFill>
              <a:srgbClr val="22D3EE"/>
            </a:solidFill>
            <a:prstDash val="solid"/>
            <a:tailEnd type="triangle"/>
          </a:ln>
        </p:spPr>
        <p:txBody>
          <a:bodyPr/>
          <a:lstStyle/>
          <a:p>
            <a:endParaRPr lang="en-IN"/>
          </a:p>
        </p:txBody>
      </p:sp>
      <p:sp>
        <p:nvSpPr>
          <p:cNvPr id="36" name="Shape 33"/>
          <p:cNvSpPr/>
          <p:nvPr/>
        </p:nvSpPr>
        <p:spPr>
          <a:xfrm>
            <a:off x="7333488" y="2971800"/>
            <a:ext cx="1463040" cy="868680"/>
          </a:xfrm>
          <a:prstGeom prst="roundRect">
            <a:avLst>
              <a:gd name="adj" fmla="val 8421"/>
            </a:avLst>
          </a:prstGeom>
          <a:solidFill>
            <a:srgbClr val="16233F"/>
          </a:solidFill>
          <a:ln w="12700">
            <a:solidFill>
              <a:srgbClr val="3B82F6"/>
            </a:solidFill>
            <a:prstDash val="solid"/>
          </a:ln>
        </p:spPr>
        <p:txBody>
          <a:bodyPr/>
          <a:lstStyle/>
          <a:p>
            <a:endParaRPr lang="en-IN"/>
          </a:p>
        </p:txBody>
      </p:sp>
      <p:sp>
        <p:nvSpPr>
          <p:cNvPr id="37" name="Text 34"/>
          <p:cNvSpPr txBox="1"/>
          <p:nvPr/>
        </p:nvSpPr>
        <p:spPr>
          <a:xfrm>
            <a:off x="7333488" y="2971800"/>
            <a:ext cx="1463040" cy="868680"/>
          </a:xfrm>
          <a:prstGeom prst="rect">
            <a:avLst/>
          </a:prstGeom>
          <a:noFill/>
          <a:ln/>
        </p:spPr>
        <p:txBody>
          <a:bodyPr wrap="square" lIns="50800" tIns="50800" rIns="50800" bIns="50800" rtlCol="0" anchor="ctr"/>
          <a:lstStyle/>
          <a:p>
            <a:pPr marL="0" indent="0" algn="ctr">
              <a:buNone/>
            </a:pPr>
            <a:r>
              <a:rPr lang="en-US" sz="1100" dirty="0">
                <a:solidFill>
                  <a:srgbClr val="F1F5F9"/>
                </a:solidFill>
              </a:rPr>
              <a:t>Slot available</a:t>
            </a:r>
            <a:endParaRPr lang="en-US" sz="1100" dirty="0"/>
          </a:p>
          <a:p>
            <a:pPr marL="0" indent="0" algn="ctr">
              <a:buNone/>
            </a:pPr>
            <a:r>
              <a:rPr lang="en-US" sz="1100" dirty="0">
                <a:solidFill>
                  <a:srgbClr val="F1F5F9"/>
                </a:solidFill>
              </a:rPr>
              <a:t>again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DSA Concepts Used (Verified in Code)</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8</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920240"/>
        </p:xfrm>
        <a:graphic>
          <a:graphicData uri="http://schemas.openxmlformats.org/drawingml/2006/table">
            <a:tbl>
              <a:tblPr/>
              <a:tblGrid>
                <a:gridCol w="23774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0B1220"/>
                          </a:solidFill>
                        </a:rPr>
                        <a:t>Structure</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tc>
                  <a:txBody>
                    <a:bodyPr/>
                    <a:lstStyle/>
                    <a:p>
                      <a:pPr marL="0" indent="0">
                        <a:buNone/>
                      </a:pPr>
                      <a:r>
                        <a:rPr lang="en-US" sz="1200" b="1" dirty="0">
                          <a:solidFill>
                            <a:srgbClr val="0B1220"/>
                          </a:solidFill>
                        </a:rPr>
                        <a:t>Where used</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tc>
                  <a:txBody>
                    <a:bodyPr/>
                    <a:lstStyle/>
                    <a:p>
                      <a:pPr marL="0" indent="0">
                        <a:buNone/>
                      </a:pPr>
                      <a:r>
                        <a:rPr lang="en-US" sz="1200" b="1" dirty="0">
                          <a:solidFill>
                            <a:srgbClr val="0B1220"/>
                          </a:solidFill>
                        </a:rPr>
                        <a:t>Why</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F1F5F9"/>
                          </a:solidFill>
                        </a:rPr>
                        <a:t>TreeSet&lt;Integer&gt;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Free slot numbers</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Always pick the lowest free slot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F1F5F9"/>
                          </a:solidFill>
                        </a:rPr>
                        <a:t>HashMap&lt;String,ParkingSlot&gt;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Active registration -&gt; slot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Fast duplicate check and lookup</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F1F5F9"/>
                          </a:solidFill>
                        </a:rPr>
                        <a:t>ArrayList&lt;Vehicle&gt;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Active vehicles</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Ordered storage, easy iteration</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F1F5F9"/>
                          </a:solidFill>
                        </a:rPr>
                        <a:t>ArrayList&lt;ParkingHistory&gt;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In-memory history</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Append visit records</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F1F5F9"/>
                          </a:solidFill>
                        </a:rPr>
                        <a:t>HashSet&lt;String&gt;</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Allowed vehicle types</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200" dirty="0">
                          <a:solidFill>
                            <a:srgbClr val="F1F5F9"/>
                          </a:solidFill>
                        </a:rPr>
                        <a:t>Fast membership check</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5"/>
                  </a:ext>
                </a:extLst>
              </a:tr>
              <a:tr h="0">
                <a:tc>
                  <a:txBody>
                    <a:bodyPr/>
                    <a:lstStyle/>
                    <a:p>
                      <a:pPr marL="0" indent="0">
                        <a:buNone/>
                      </a:pPr>
                      <a:r>
                        <a:rPr lang="en-US" sz="1200" dirty="0">
                          <a:solidFill>
                            <a:srgbClr val="F1F5F9"/>
                          </a:solidFill>
                        </a:rPr>
                        <a:t>Linear scan</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Color search, history lookup</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200" dirty="0">
                          <a:solidFill>
                            <a:srgbClr val="F1F5F9"/>
                          </a:solidFill>
                        </a:rPr>
                        <a:t>Simple at small scale</a:t>
                      </a:r>
                      <a:endParaRPr lang="en-US" sz="12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6"/>
                  </a:ext>
                </a:extLst>
              </a:tr>
            </a:tbl>
          </a:graphicData>
        </a:graphic>
      </p:graphicFrame>
      <p:sp>
        <p:nvSpPr>
          <p:cNvPr id="7" name="Text 5"/>
          <p:cNvSpPr txBox="1"/>
          <p:nvPr/>
        </p:nvSpPr>
        <p:spPr>
          <a:xfrm>
            <a:off x="457200" y="4206240"/>
            <a:ext cx="8229600" cy="365760"/>
          </a:xfrm>
          <a:prstGeom prst="rect">
            <a:avLst/>
          </a:prstGeom>
          <a:noFill/>
          <a:ln/>
        </p:spPr>
        <p:txBody>
          <a:bodyPr wrap="square" lIns="0" tIns="0" rIns="0" bIns="0" rtlCol="0" anchor="ctr"/>
          <a:lstStyle/>
          <a:p>
            <a:pPr marL="0" indent="0">
              <a:buNone/>
            </a:pPr>
            <a:r>
              <a:rPr lang="en-US" sz="1200" dirty="0">
                <a:solidFill>
                  <a:srgbClr val="F59E0B"/>
                </a:solidFill>
              </a:rPr>
              <a:t>Python sorted() and SQL ORDER BY are library features, not custom sorting algorithms.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DSA in Code: TreeSet + HashMap</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9</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051560"/>
            <a:ext cx="4937760" cy="3566160"/>
          </a:xfrm>
          <a:prstGeom prst="rect">
            <a:avLst/>
          </a:prstGeom>
          <a:solidFill>
            <a:srgbClr val="070C17"/>
          </a:solidFill>
          <a:ln w="12700">
            <a:solidFill>
              <a:srgbClr val="3B82F6"/>
            </a:solidFill>
            <a:prstDash val="solid"/>
          </a:ln>
        </p:spPr>
        <p:txBody>
          <a:bodyPr/>
          <a:lstStyle/>
          <a:p>
            <a:endParaRPr lang="en-IN"/>
          </a:p>
        </p:txBody>
      </p:sp>
      <p:sp>
        <p:nvSpPr>
          <p:cNvPr id="9" name="Text 6"/>
          <p:cNvSpPr txBox="1"/>
          <p:nvPr/>
        </p:nvSpPr>
        <p:spPr>
          <a:xfrm>
            <a:off x="548640" y="1097280"/>
            <a:ext cx="4754880" cy="3474720"/>
          </a:xfrm>
          <a:prstGeom prst="rect">
            <a:avLst/>
          </a:prstGeom>
          <a:noFill/>
          <a:ln/>
        </p:spPr>
        <p:txBody>
          <a:bodyPr wrap="square" lIns="25400" tIns="25400" rIns="25400" bIns="25400" rtlCol="0" anchor="t"/>
          <a:lstStyle/>
          <a:p>
            <a:pPr marL="0" indent="0">
              <a:buNone/>
            </a:pPr>
            <a:r>
              <a:rPr lang="en-US" sz="1050" dirty="0">
                <a:solidFill>
                  <a:srgbClr val="A5F3FC"/>
                </a:solidFill>
                <a:latin typeface="Consolas" pitchFamily="34" charset="0"/>
                <a:ea typeface="Consolas" pitchFamily="34" charset="-122"/>
                <a:cs typeface="Consolas" pitchFamily="34" charset="-120"/>
              </a:rPr>
              <a:t>private final TreeSet&lt;Integer&gt; availableSlots;</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private final HashMap&lt;String, ParkingSlot&gt; vehicleMap;</a:t>
            </a:r>
            <a:endParaRPr lang="en-US" sz="1050" dirty="0"/>
          </a:p>
          <a:p>
            <a:pPr marL="0" indent="0">
              <a:buNone/>
            </a:pP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String reg = vehicle.getRegistrationNumber()</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                    .trim().toUpperCase();</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if (vehicleMap.containsKey(reg)) {</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    return "ERROR|Vehicle already parked";</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if (availableSlots.isEmpty()) {</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    return "ERROR|Parking lot is full";</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int slotNumber = availableSlots.first();</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availableSlots.remove(slotNumber);</a:t>
            </a:r>
            <a:endParaRPr lang="en-US" sz="1050" dirty="0"/>
          </a:p>
          <a:p>
            <a:pPr marL="0" indent="0">
              <a:buNone/>
            </a:pPr>
            <a:r>
              <a:rPr lang="en-US" sz="1050" dirty="0">
                <a:solidFill>
                  <a:srgbClr val="A5F3FC"/>
                </a:solidFill>
                <a:latin typeface="Consolas" pitchFamily="34" charset="0"/>
                <a:ea typeface="Consolas" pitchFamily="34" charset="-122"/>
                <a:cs typeface="Consolas" pitchFamily="34" charset="-120"/>
              </a:rPr>
              <a:t>vehicleMap.put(reg, slot);</a:t>
            </a:r>
            <a:endParaRPr lang="en-US" sz="1050" dirty="0"/>
          </a:p>
        </p:txBody>
      </p:sp>
      <p:sp>
        <p:nvSpPr>
          <p:cNvPr id="10" name="Text 7"/>
          <p:cNvSpPr txBox="1"/>
          <p:nvPr/>
        </p:nvSpPr>
        <p:spPr>
          <a:xfrm>
            <a:off x="5577840" y="1097280"/>
            <a:ext cx="320040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1F5F9"/>
                </a:solidFill>
              </a:rPr>
              <a:t>containsKey: duplicate check, expected O(1)</a:t>
            </a:r>
            <a:endParaRPr lang="en-US" sz="1300" dirty="0"/>
          </a:p>
          <a:p>
            <a:pPr marL="342900" indent="-342900">
              <a:spcAft>
                <a:spcPts val="800"/>
              </a:spcAft>
              <a:buSzPct val="100000"/>
              <a:buChar char="•"/>
            </a:pPr>
            <a:r>
              <a:rPr lang="en-US" sz="1300" dirty="0">
                <a:solidFill>
                  <a:srgbClr val="F1F5F9"/>
                </a:solidFill>
              </a:rPr>
              <a:t>isEmpty: full-lot check</a:t>
            </a:r>
            <a:endParaRPr lang="en-US" sz="1300" dirty="0"/>
          </a:p>
          <a:p>
            <a:pPr marL="342900" indent="-342900">
              <a:spcAft>
                <a:spcPts val="800"/>
              </a:spcAft>
              <a:buSzPct val="100000"/>
              <a:buChar char="•"/>
            </a:pPr>
            <a:r>
              <a:rPr lang="en-US" sz="1300" dirty="0">
                <a:solidFill>
                  <a:srgbClr val="F1F5F9"/>
                </a:solidFill>
              </a:rPr>
              <a:t>first(): smallest free slot</a:t>
            </a:r>
            <a:endParaRPr lang="en-US" sz="1300" dirty="0"/>
          </a:p>
          <a:p>
            <a:pPr marL="342900" indent="-342900">
              <a:spcAft>
                <a:spcPts val="800"/>
              </a:spcAft>
              <a:buSzPct val="100000"/>
              <a:buChar char="•"/>
            </a:pPr>
            <a:r>
              <a:rPr lang="en-US" sz="1300" dirty="0">
                <a:solidFill>
                  <a:srgbClr val="F1F5F9"/>
                </a:solidFill>
              </a:rPr>
              <a:t>remove(): slot becomes occupied</a:t>
            </a:r>
            <a:endParaRPr lang="en-US" sz="1300" dirty="0"/>
          </a:p>
          <a:p>
            <a:pPr marL="342900" indent="-342900">
              <a:spcAft>
                <a:spcPts val="800"/>
              </a:spcAft>
              <a:buSzPct val="100000"/>
              <a:buChar char="•"/>
            </a:pPr>
            <a:r>
              <a:rPr lang="en-US" sz="1300" dirty="0">
                <a:solidFill>
                  <a:srgbClr val="F1F5F9"/>
                </a:solidFill>
              </a:rPr>
              <a:t>put(): record active vehicle</a:t>
            </a:r>
            <a:endParaRPr lang="en-US" sz="1300" dirty="0"/>
          </a:p>
        </p:txBody>
      </p:sp>
      <p:sp>
        <p:nvSpPr>
          <p:cNvPr id="11" name="Shape 8"/>
          <p:cNvSpPr/>
          <p:nvPr/>
        </p:nvSpPr>
        <p:spPr>
          <a:xfrm>
            <a:off x="5577840" y="3566160"/>
            <a:ext cx="3108960" cy="1005840"/>
          </a:xfrm>
          <a:prstGeom prst="roundRect">
            <a:avLst>
              <a:gd name="adj" fmla="val 7273"/>
            </a:avLst>
          </a:prstGeom>
          <a:solidFill>
            <a:srgbClr val="16233F"/>
          </a:solidFill>
          <a:ln w="12700">
            <a:solidFill>
              <a:srgbClr val="22D3EE"/>
            </a:solidFill>
            <a:prstDash val="solid"/>
          </a:ln>
        </p:spPr>
        <p:txBody>
          <a:bodyPr/>
          <a:lstStyle/>
          <a:p>
            <a:endParaRPr lang="en-IN"/>
          </a:p>
        </p:txBody>
      </p:sp>
      <p:sp>
        <p:nvSpPr>
          <p:cNvPr id="12" name="Text 9"/>
          <p:cNvSpPr txBox="1"/>
          <p:nvPr/>
        </p:nvSpPr>
        <p:spPr>
          <a:xfrm>
            <a:off x="5577840" y="3566160"/>
            <a:ext cx="3108960" cy="1005840"/>
          </a:xfrm>
          <a:prstGeom prst="rect">
            <a:avLst/>
          </a:prstGeom>
          <a:noFill/>
          <a:ln/>
        </p:spPr>
        <p:txBody>
          <a:bodyPr wrap="square" lIns="50800" tIns="50800" rIns="50800" bIns="50800" rtlCol="0" anchor="ctr"/>
          <a:lstStyle/>
          <a:p>
            <a:pPr marL="0" indent="0" algn="ctr">
              <a:buNone/>
            </a:pPr>
            <a:r>
              <a:rPr lang="en-US" sz="1100" dirty="0">
                <a:solidFill>
                  <a:srgbClr val="F1F5F9"/>
                </a:solidFill>
              </a:rPr>
              <a:t>Example</a:t>
            </a:r>
            <a:endParaRPr lang="en-US" sz="1100" dirty="0"/>
          </a:p>
          <a:p>
            <a:pPr marL="0" indent="0" algn="ctr">
              <a:buNone/>
            </a:pPr>
            <a:r>
              <a:rPr lang="en-US" sz="1100" dirty="0">
                <a:solidFill>
                  <a:srgbClr val="F1F5F9"/>
                </a:solidFill>
              </a:rPr>
              <a:t>Free {1,3,5} -&gt; park -&gt; slot 1</a:t>
            </a:r>
            <a:endParaRPr lang="en-US" sz="1100" dirty="0"/>
          </a:p>
          <a:p>
            <a:pPr marL="0" indent="0" algn="ctr">
              <a:buNone/>
            </a:pPr>
            <a:r>
              <a:rPr lang="en-US" sz="1100" dirty="0">
                <a:solidFill>
                  <a:srgbClr val="F1F5F9"/>
                </a:solidFill>
              </a:rPr>
              <a:t>Free {3,5} -&gt; exit -&gt; {1,3,5}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Algorithm and Flowchart: Park a Vehicle</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10</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051560"/>
            <a:ext cx="2011680" cy="566928"/>
          </a:xfrm>
          <a:prstGeom prst="roundRect">
            <a:avLst>
              <a:gd name="adj" fmla="val 12903"/>
            </a:avLst>
          </a:prstGeom>
          <a:solidFill>
            <a:srgbClr val="16233F"/>
          </a:solidFill>
          <a:ln w="12700">
            <a:solidFill>
              <a:srgbClr val="22D3EE"/>
            </a:solidFill>
            <a:prstDash val="solid"/>
          </a:ln>
        </p:spPr>
        <p:txBody>
          <a:bodyPr/>
          <a:lstStyle/>
          <a:p>
            <a:endParaRPr lang="en-IN"/>
          </a:p>
        </p:txBody>
      </p:sp>
      <p:sp>
        <p:nvSpPr>
          <p:cNvPr id="9" name="Text 6"/>
          <p:cNvSpPr txBox="1"/>
          <p:nvPr/>
        </p:nvSpPr>
        <p:spPr>
          <a:xfrm>
            <a:off x="457200" y="1051560"/>
            <a:ext cx="201168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Start: PARK(vehicle)</a:t>
            </a:r>
            <a:endParaRPr lang="en-US" sz="1100" dirty="0"/>
          </a:p>
        </p:txBody>
      </p:sp>
      <p:sp>
        <p:nvSpPr>
          <p:cNvPr id="10" name="Shape 7"/>
          <p:cNvSpPr/>
          <p:nvPr/>
        </p:nvSpPr>
        <p:spPr>
          <a:xfrm>
            <a:off x="1463040" y="1618488"/>
            <a:ext cx="0" cy="210312"/>
          </a:xfrm>
          <a:prstGeom prst="line">
            <a:avLst/>
          </a:prstGeom>
          <a:noFill/>
          <a:ln w="19050">
            <a:solidFill>
              <a:srgbClr val="22D3EE"/>
            </a:solidFill>
            <a:prstDash val="solid"/>
            <a:tailEnd type="triangle"/>
          </a:ln>
        </p:spPr>
        <p:txBody>
          <a:bodyPr/>
          <a:lstStyle/>
          <a:p>
            <a:endParaRPr lang="en-IN"/>
          </a:p>
        </p:txBody>
      </p:sp>
      <p:sp>
        <p:nvSpPr>
          <p:cNvPr id="11" name="Shape 8"/>
          <p:cNvSpPr/>
          <p:nvPr/>
        </p:nvSpPr>
        <p:spPr>
          <a:xfrm>
            <a:off x="457200" y="1828800"/>
            <a:ext cx="2011680" cy="566928"/>
          </a:xfrm>
          <a:prstGeom prst="roundRect">
            <a:avLst>
              <a:gd name="adj" fmla="val 12903"/>
            </a:avLst>
          </a:prstGeom>
          <a:solidFill>
            <a:srgbClr val="16233F"/>
          </a:solidFill>
          <a:ln w="12700">
            <a:solidFill>
              <a:srgbClr val="3B82F6"/>
            </a:solidFill>
            <a:prstDash val="solid"/>
          </a:ln>
        </p:spPr>
        <p:txBody>
          <a:bodyPr/>
          <a:lstStyle/>
          <a:p>
            <a:endParaRPr lang="en-IN"/>
          </a:p>
        </p:txBody>
      </p:sp>
      <p:sp>
        <p:nvSpPr>
          <p:cNvPr id="12" name="Text 9"/>
          <p:cNvSpPr txBox="1"/>
          <p:nvPr/>
        </p:nvSpPr>
        <p:spPr>
          <a:xfrm>
            <a:off x="457200" y="1828800"/>
            <a:ext cx="201168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Valid details</a:t>
            </a:r>
            <a:endParaRPr lang="en-US" sz="1100" dirty="0"/>
          </a:p>
          <a:p>
            <a:pPr marL="0" indent="0" algn="ctr">
              <a:buNone/>
            </a:pPr>
            <a:r>
              <a:rPr lang="en-US" sz="1100" dirty="0">
                <a:solidFill>
                  <a:srgbClr val="F1F5F9"/>
                </a:solidFill>
              </a:rPr>
              <a:t>and type?</a:t>
            </a:r>
            <a:endParaRPr lang="en-US" sz="1100" dirty="0"/>
          </a:p>
        </p:txBody>
      </p:sp>
      <p:sp>
        <p:nvSpPr>
          <p:cNvPr id="13" name="Shape 10"/>
          <p:cNvSpPr/>
          <p:nvPr/>
        </p:nvSpPr>
        <p:spPr>
          <a:xfrm>
            <a:off x="1463040" y="2395728"/>
            <a:ext cx="0" cy="210312"/>
          </a:xfrm>
          <a:prstGeom prst="line">
            <a:avLst/>
          </a:prstGeom>
          <a:noFill/>
          <a:ln w="19050">
            <a:solidFill>
              <a:srgbClr val="22D3EE"/>
            </a:solidFill>
            <a:prstDash val="solid"/>
            <a:tailEnd type="triangle"/>
          </a:ln>
        </p:spPr>
        <p:txBody>
          <a:bodyPr/>
          <a:lstStyle/>
          <a:p>
            <a:endParaRPr lang="en-IN"/>
          </a:p>
        </p:txBody>
      </p:sp>
      <p:sp>
        <p:nvSpPr>
          <p:cNvPr id="14" name="Shape 11"/>
          <p:cNvSpPr/>
          <p:nvPr/>
        </p:nvSpPr>
        <p:spPr>
          <a:xfrm>
            <a:off x="457200" y="2606040"/>
            <a:ext cx="2011680" cy="566928"/>
          </a:xfrm>
          <a:prstGeom prst="roundRect">
            <a:avLst>
              <a:gd name="adj" fmla="val 12903"/>
            </a:avLst>
          </a:prstGeom>
          <a:solidFill>
            <a:srgbClr val="16233F"/>
          </a:solidFill>
          <a:ln w="12700">
            <a:solidFill>
              <a:srgbClr val="3B82F6"/>
            </a:solidFill>
            <a:prstDash val="solid"/>
          </a:ln>
        </p:spPr>
        <p:txBody>
          <a:bodyPr/>
          <a:lstStyle/>
          <a:p>
            <a:endParaRPr lang="en-IN"/>
          </a:p>
        </p:txBody>
      </p:sp>
      <p:sp>
        <p:nvSpPr>
          <p:cNvPr id="15" name="Text 12"/>
          <p:cNvSpPr txBox="1"/>
          <p:nvPr/>
        </p:nvSpPr>
        <p:spPr>
          <a:xfrm>
            <a:off x="457200" y="2606040"/>
            <a:ext cx="201168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Already parked?</a:t>
            </a:r>
            <a:endParaRPr lang="en-US" sz="1100" dirty="0"/>
          </a:p>
        </p:txBody>
      </p:sp>
      <p:sp>
        <p:nvSpPr>
          <p:cNvPr id="16" name="Shape 13"/>
          <p:cNvSpPr/>
          <p:nvPr/>
        </p:nvSpPr>
        <p:spPr>
          <a:xfrm>
            <a:off x="1463040" y="3172968"/>
            <a:ext cx="0" cy="210312"/>
          </a:xfrm>
          <a:prstGeom prst="line">
            <a:avLst/>
          </a:prstGeom>
          <a:noFill/>
          <a:ln w="19050">
            <a:solidFill>
              <a:srgbClr val="22D3EE"/>
            </a:solidFill>
            <a:prstDash val="solid"/>
            <a:tailEnd type="triangle"/>
          </a:ln>
        </p:spPr>
        <p:txBody>
          <a:bodyPr/>
          <a:lstStyle/>
          <a:p>
            <a:endParaRPr lang="en-IN"/>
          </a:p>
        </p:txBody>
      </p:sp>
      <p:sp>
        <p:nvSpPr>
          <p:cNvPr id="17" name="Shape 14"/>
          <p:cNvSpPr/>
          <p:nvPr/>
        </p:nvSpPr>
        <p:spPr>
          <a:xfrm>
            <a:off x="457200" y="3383280"/>
            <a:ext cx="2011680" cy="566928"/>
          </a:xfrm>
          <a:prstGeom prst="roundRect">
            <a:avLst>
              <a:gd name="adj" fmla="val 12903"/>
            </a:avLst>
          </a:prstGeom>
          <a:solidFill>
            <a:srgbClr val="16233F"/>
          </a:solidFill>
          <a:ln w="12700">
            <a:solidFill>
              <a:srgbClr val="3B82F6"/>
            </a:solidFill>
            <a:prstDash val="solid"/>
          </a:ln>
        </p:spPr>
        <p:txBody>
          <a:bodyPr/>
          <a:lstStyle/>
          <a:p>
            <a:endParaRPr lang="en-IN"/>
          </a:p>
        </p:txBody>
      </p:sp>
      <p:sp>
        <p:nvSpPr>
          <p:cNvPr id="18" name="Text 15"/>
          <p:cNvSpPr txBox="1"/>
          <p:nvPr/>
        </p:nvSpPr>
        <p:spPr>
          <a:xfrm>
            <a:off x="457200" y="3383280"/>
            <a:ext cx="201168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Lot full?</a:t>
            </a:r>
            <a:endParaRPr lang="en-US" sz="1100" dirty="0"/>
          </a:p>
        </p:txBody>
      </p:sp>
      <p:sp>
        <p:nvSpPr>
          <p:cNvPr id="19" name="Shape 16"/>
          <p:cNvSpPr/>
          <p:nvPr/>
        </p:nvSpPr>
        <p:spPr>
          <a:xfrm>
            <a:off x="1463040" y="3950208"/>
            <a:ext cx="0" cy="73152"/>
          </a:xfrm>
          <a:prstGeom prst="line">
            <a:avLst/>
          </a:prstGeom>
          <a:noFill/>
          <a:ln w="19050">
            <a:solidFill>
              <a:srgbClr val="22D3EE"/>
            </a:solidFill>
            <a:prstDash val="solid"/>
            <a:tailEnd type="triangle"/>
          </a:ln>
        </p:spPr>
        <p:txBody>
          <a:bodyPr/>
          <a:lstStyle/>
          <a:p>
            <a:endParaRPr lang="en-IN"/>
          </a:p>
        </p:txBody>
      </p:sp>
      <p:sp>
        <p:nvSpPr>
          <p:cNvPr id="20" name="Shape 17"/>
          <p:cNvSpPr/>
          <p:nvPr/>
        </p:nvSpPr>
        <p:spPr>
          <a:xfrm>
            <a:off x="457200" y="4023360"/>
            <a:ext cx="2011680" cy="566928"/>
          </a:xfrm>
          <a:prstGeom prst="roundRect">
            <a:avLst>
              <a:gd name="adj" fmla="val 12903"/>
            </a:avLst>
          </a:prstGeom>
          <a:solidFill>
            <a:srgbClr val="16233F"/>
          </a:solidFill>
          <a:ln w="12700">
            <a:solidFill>
              <a:srgbClr val="34D399"/>
            </a:solidFill>
            <a:prstDash val="solid"/>
          </a:ln>
        </p:spPr>
        <p:txBody>
          <a:bodyPr/>
          <a:lstStyle/>
          <a:p>
            <a:endParaRPr lang="en-IN"/>
          </a:p>
        </p:txBody>
      </p:sp>
      <p:sp>
        <p:nvSpPr>
          <p:cNvPr id="21" name="Text 18"/>
          <p:cNvSpPr txBox="1"/>
          <p:nvPr/>
        </p:nvSpPr>
        <p:spPr>
          <a:xfrm>
            <a:off x="457200" y="4023360"/>
            <a:ext cx="201168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Take min free slot,</a:t>
            </a:r>
            <a:endParaRPr lang="en-US" sz="1100" dirty="0"/>
          </a:p>
          <a:p>
            <a:pPr marL="0" indent="0" algn="ctr">
              <a:buNone/>
            </a:pPr>
            <a:r>
              <a:rPr lang="en-US" sz="1100" dirty="0">
                <a:solidFill>
                  <a:srgbClr val="F1F5F9"/>
                </a:solidFill>
              </a:rPr>
              <a:t>update structures</a:t>
            </a:r>
            <a:endParaRPr lang="en-US" sz="1100" dirty="0"/>
          </a:p>
        </p:txBody>
      </p:sp>
      <p:sp>
        <p:nvSpPr>
          <p:cNvPr id="22" name="Shape 19"/>
          <p:cNvSpPr/>
          <p:nvPr/>
        </p:nvSpPr>
        <p:spPr>
          <a:xfrm>
            <a:off x="2651760" y="1828800"/>
            <a:ext cx="822960" cy="566928"/>
          </a:xfrm>
          <a:prstGeom prst="roundRect">
            <a:avLst>
              <a:gd name="adj" fmla="val 12903"/>
            </a:avLst>
          </a:prstGeom>
          <a:solidFill>
            <a:srgbClr val="16233F"/>
          </a:solidFill>
          <a:ln w="12700">
            <a:solidFill>
              <a:srgbClr val="F87171"/>
            </a:solidFill>
            <a:prstDash val="solid"/>
          </a:ln>
        </p:spPr>
        <p:txBody>
          <a:bodyPr/>
          <a:lstStyle/>
          <a:p>
            <a:endParaRPr lang="en-IN"/>
          </a:p>
        </p:txBody>
      </p:sp>
      <p:sp>
        <p:nvSpPr>
          <p:cNvPr id="23" name="Text 20"/>
          <p:cNvSpPr txBox="1"/>
          <p:nvPr/>
        </p:nvSpPr>
        <p:spPr>
          <a:xfrm>
            <a:off x="2651760" y="1828800"/>
            <a:ext cx="82296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Error</a:t>
            </a:r>
            <a:endParaRPr lang="en-US" sz="1100" dirty="0"/>
          </a:p>
        </p:txBody>
      </p:sp>
      <p:sp>
        <p:nvSpPr>
          <p:cNvPr id="24" name="Shape 21"/>
          <p:cNvSpPr/>
          <p:nvPr/>
        </p:nvSpPr>
        <p:spPr>
          <a:xfrm>
            <a:off x="2651760" y="2606040"/>
            <a:ext cx="822960" cy="566928"/>
          </a:xfrm>
          <a:prstGeom prst="roundRect">
            <a:avLst>
              <a:gd name="adj" fmla="val 12903"/>
            </a:avLst>
          </a:prstGeom>
          <a:solidFill>
            <a:srgbClr val="16233F"/>
          </a:solidFill>
          <a:ln w="12700">
            <a:solidFill>
              <a:srgbClr val="F87171"/>
            </a:solidFill>
            <a:prstDash val="solid"/>
          </a:ln>
        </p:spPr>
        <p:txBody>
          <a:bodyPr/>
          <a:lstStyle/>
          <a:p>
            <a:endParaRPr lang="en-IN"/>
          </a:p>
        </p:txBody>
      </p:sp>
      <p:sp>
        <p:nvSpPr>
          <p:cNvPr id="25" name="Text 22"/>
          <p:cNvSpPr txBox="1"/>
          <p:nvPr/>
        </p:nvSpPr>
        <p:spPr>
          <a:xfrm>
            <a:off x="2651760" y="2606040"/>
            <a:ext cx="82296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Error</a:t>
            </a:r>
            <a:endParaRPr lang="en-US" sz="1100" dirty="0"/>
          </a:p>
        </p:txBody>
      </p:sp>
      <p:sp>
        <p:nvSpPr>
          <p:cNvPr id="26" name="Shape 23"/>
          <p:cNvSpPr/>
          <p:nvPr/>
        </p:nvSpPr>
        <p:spPr>
          <a:xfrm>
            <a:off x="2651760" y="3383280"/>
            <a:ext cx="822960" cy="566928"/>
          </a:xfrm>
          <a:prstGeom prst="roundRect">
            <a:avLst>
              <a:gd name="adj" fmla="val 12903"/>
            </a:avLst>
          </a:prstGeom>
          <a:solidFill>
            <a:srgbClr val="16233F"/>
          </a:solidFill>
          <a:ln w="12700">
            <a:solidFill>
              <a:srgbClr val="F87171"/>
            </a:solidFill>
            <a:prstDash val="solid"/>
          </a:ln>
        </p:spPr>
        <p:txBody>
          <a:bodyPr/>
          <a:lstStyle/>
          <a:p>
            <a:endParaRPr lang="en-IN"/>
          </a:p>
        </p:txBody>
      </p:sp>
      <p:sp>
        <p:nvSpPr>
          <p:cNvPr id="27" name="Text 24"/>
          <p:cNvSpPr txBox="1"/>
          <p:nvPr/>
        </p:nvSpPr>
        <p:spPr>
          <a:xfrm>
            <a:off x="2651760" y="3383280"/>
            <a:ext cx="822960" cy="566928"/>
          </a:xfrm>
          <a:prstGeom prst="rect">
            <a:avLst/>
          </a:prstGeom>
          <a:noFill/>
          <a:ln/>
        </p:spPr>
        <p:txBody>
          <a:bodyPr wrap="square" lIns="50800" tIns="50800" rIns="50800" bIns="50800" rtlCol="0" anchor="ctr"/>
          <a:lstStyle/>
          <a:p>
            <a:pPr marL="0" indent="0" algn="ctr">
              <a:buNone/>
            </a:pPr>
            <a:r>
              <a:rPr lang="en-US" sz="1100" dirty="0">
                <a:solidFill>
                  <a:srgbClr val="F1F5F9"/>
                </a:solidFill>
              </a:rPr>
              <a:t>Error</a:t>
            </a:r>
            <a:endParaRPr lang="en-US" sz="1100" dirty="0"/>
          </a:p>
        </p:txBody>
      </p:sp>
      <p:sp>
        <p:nvSpPr>
          <p:cNvPr id="28" name="Shape 25"/>
          <p:cNvSpPr/>
          <p:nvPr/>
        </p:nvSpPr>
        <p:spPr>
          <a:xfrm>
            <a:off x="2468880" y="2112264"/>
            <a:ext cx="182880" cy="0"/>
          </a:xfrm>
          <a:prstGeom prst="line">
            <a:avLst/>
          </a:prstGeom>
          <a:noFill/>
          <a:ln w="19050">
            <a:solidFill>
              <a:srgbClr val="22D3EE"/>
            </a:solidFill>
            <a:prstDash val="solid"/>
            <a:tailEnd type="triangle"/>
          </a:ln>
        </p:spPr>
        <p:txBody>
          <a:bodyPr/>
          <a:lstStyle/>
          <a:p>
            <a:endParaRPr lang="en-IN"/>
          </a:p>
        </p:txBody>
      </p:sp>
      <p:sp>
        <p:nvSpPr>
          <p:cNvPr id="29" name="Shape 26"/>
          <p:cNvSpPr/>
          <p:nvPr/>
        </p:nvSpPr>
        <p:spPr>
          <a:xfrm>
            <a:off x="2468880" y="2889504"/>
            <a:ext cx="182880" cy="0"/>
          </a:xfrm>
          <a:prstGeom prst="line">
            <a:avLst/>
          </a:prstGeom>
          <a:noFill/>
          <a:ln w="19050">
            <a:solidFill>
              <a:srgbClr val="22D3EE"/>
            </a:solidFill>
            <a:prstDash val="solid"/>
            <a:tailEnd type="triangle"/>
          </a:ln>
        </p:spPr>
        <p:txBody>
          <a:bodyPr/>
          <a:lstStyle/>
          <a:p>
            <a:endParaRPr lang="en-IN"/>
          </a:p>
        </p:txBody>
      </p:sp>
      <p:sp>
        <p:nvSpPr>
          <p:cNvPr id="30" name="Shape 27"/>
          <p:cNvSpPr/>
          <p:nvPr/>
        </p:nvSpPr>
        <p:spPr>
          <a:xfrm>
            <a:off x="2468880" y="3666744"/>
            <a:ext cx="182880" cy="0"/>
          </a:xfrm>
          <a:prstGeom prst="line">
            <a:avLst/>
          </a:prstGeom>
          <a:noFill/>
          <a:ln w="19050">
            <a:solidFill>
              <a:srgbClr val="22D3EE"/>
            </a:solidFill>
            <a:prstDash val="solid"/>
            <a:tailEnd type="triangle"/>
          </a:ln>
        </p:spPr>
        <p:txBody>
          <a:bodyPr/>
          <a:lstStyle/>
          <a:p>
            <a:endParaRPr lang="en-IN"/>
          </a:p>
        </p:txBody>
      </p:sp>
      <p:sp>
        <p:nvSpPr>
          <p:cNvPr id="31" name="Shape 28"/>
          <p:cNvSpPr/>
          <p:nvPr/>
        </p:nvSpPr>
        <p:spPr>
          <a:xfrm>
            <a:off x="3840480" y="1051560"/>
            <a:ext cx="4846320" cy="3566160"/>
          </a:xfrm>
          <a:prstGeom prst="rect">
            <a:avLst/>
          </a:prstGeom>
          <a:solidFill>
            <a:srgbClr val="070C17"/>
          </a:solidFill>
          <a:ln w="12700">
            <a:solidFill>
              <a:srgbClr val="3B82F6"/>
            </a:solidFill>
            <a:prstDash val="solid"/>
          </a:ln>
        </p:spPr>
        <p:txBody>
          <a:bodyPr/>
          <a:lstStyle/>
          <a:p>
            <a:endParaRPr lang="en-IN"/>
          </a:p>
        </p:txBody>
      </p:sp>
      <p:sp>
        <p:nvSpPr>
          <p:cNvPr id="32" name="Text 29"/>
          <p:cNvSpPr txBox="1"/>
          <p:nvPr/>
        </p:nvSpPr>
        <p:spPr>
          <a:xfrm>
            <a:off x="3931920" y="1097280"/>
            <a:ext cx="4663440" cy="3474720"/>
          </a:xfrm>
          <a:prstGeom prst="rect">
            <a:avLst/>
          </a:prstGeom>
          <a:noFill/>
          <a:ln/>
        </p:spPr>
        <p:txBody>
          <a:bodyPr wrap="square" lIns="25400" tIns="25400" rIns="25400" bIns="25400" rtlCol="0" anchor="t"/>
          <a:lstStyle/>
          <a:p>
            <a:pPr marL="0" indent="0">
              <a:buNone/>
            </a:pPr>
            <a:r>
              <a:rPr lang="en-US" sz="1100" dirty="0">
                <a:solidFill>
                  <a:srgbClr val="A5F3FC"/>
                </a:solidFill>
                <a:latin typeface="Consolas" pitchFamily="34" charset="0"/>
                <a:ea typeface="Consolas" pitchFamily="34" charset="-122"/>
                <a:cs typeface="Consolas" pitchFamily="34" charset="-120"/>
              </a:rPr>
              <a:t>PARK(vehicle):</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reg = trim(upper(registration))</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if invalid: return ERROR</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if reg in vehicleMap: return ERROR</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if availableSlots empty: return ERROR</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slot = min(availableSlots)</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remove slot from availableSlots</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vehicleMap[reg] = slot</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append to vehicles, history</a:t>
            </a:r>
            <a:endParaRPr lang="en-US" sz="1100" dirty="0"/>
          </a:p>
          <a:p>
            <a:pPr marL="0" indent="0">
              <a:buNone/>
            </a:pPr>
            <a:r>
              <a:rPr lang="en-US" sz="1100" dirty="0">
                <a:solidFill>
                  <a:srgbClr val="A5F3FC"/>
                </a:solidFill>
                <a:latin typeface="Consolas" pitchFamily="34" charset="0"/>
                <a:ea typeface="Consolas" pitchFamily="34" charset="-122"/>
                <a:cs typeface="Consolas" pitchFamily="34" charset="-120"/>
              </a:rPr>
              <a:t>  return OK(slot)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Time and Space Complexity</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11</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316480"/>
        </p:xfrm>
        <a:graphic>
          <a:graphicData uri="http://schemas.openxmlformats.org/drawingml/2006/table">
            <a:tbl>
              <a:tblPr/>
              <a:tblGrid>
                <a:gridCol w="4572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0B1220"/>
                          </a:solidFill>
                        </a:rPr>
                        <a:t>Operation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tc>
                  <a:txBody>
                    <a:bodyPr/>
                    <a:lstStyle/>
                    <a:p>
                      <a:pPr marL="0" indent="0">
                        <a:buNone/>
                      </a:pPr>
                      <a:r>
                        <a:rPr lang="en-US" sz="1300" b="1" dirty="0">
                          <a:solidFill>
                            <a:srgbClr val="0B1220"/>
                          </a:solidFill>
                        </a:rPr>
                        <a:t>Time</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tc>
                  <a:txBody>
                    <a:bodyPr/>
                    <a:lstStyle/>
                    <a:p>
                      <a:pPr marL="0" indent="0">
                        <a:buNone/>
                      </a:pPr>
                      <a:r>
                        <a:rPr lang="en-US" sz="1300" b="1" dirty="0">
                          <a:solidFill>
                            <a:srgbClr val="0B1220"/>
                          </a:solidFill>
                        </a:rPr>
                        <a:t>Space</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22D3EE"/>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F1F5F9"/>
                          </a:solidFill>
                        </a:rPr>
                        <a:t>Initialize free slots (TreeSet)</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O(s log s)</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O(s)</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F1F5F9"/>
                          </a:solidFill>
                        </a:rPr>
                        <a:t>Allocate lowest free slot</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O(log s)</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O(1) extra</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F1F5F9"/>
                          </a:solidFill>
                        </a:rPr>
                        <a:t>Duplicate check / find by registration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Expected O(1)</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O(n) map</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F1F5F9"/>
                          </a:solidFill>
                        </a:rPr>
                        <a:t>Search by color (linear scan)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O(r)</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F1F5F9"/>
                          </a:solidFill>
                        </a:rPr>
                        <a:t>Remove: map + ArrayList + history scan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O(n + h)</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O(1)</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5"/>
                  </a:ext>
                </a:extLst>
              </a:tr>
              <a:tr h="0">
                <a:tc>
                  <a:txBody>
                    <a:bodyPr/>
                    <a:lstStyle/>
                    <a:p>
                      <a:pPr marL="0" indent="0">
                        <a:buNone/>
                      </a:pPr>
                      <a:r>
                        <a:rPr lang="en-US" sz="1300" dirty="0">
                          <a:solidFill>
                            <a:srgbClr val="F1F5F9"/>
                          </a:solidFill>
                        </a:rPr>
                        <a:t>Build slot status response</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O(s x n)</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tc>
                  <a:txBody>
                    <a:bodyPr/>
                    <a:lstStyle/>
                    <a:p>
                      <a:pPr marL="0" indent="0">
                        <a:buNone/>
                      </a:pPr>
                      <a:r>
                        <a:rPr lang="en-US" sz="1300" dirty="0">
                          <a:solidFill>
                            <a:srgbClr val="F1F5F9"/>
                          </a:solidFill>
                        </a:rPr>
                        <a:t>O(s)</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B2A4A"/>
                    </a:solidFill>
                  </a:tcPr>
                </a:tc>
                <a:extLst>
                  <a:ext uri="{0D108BD9-81ED-4DB2-BD59-A6C34878D82A}">
                    <a16:rowId xmlns:a16="http://schemas.microsoft.com/office/drawing/2014/main" val="10006"/>
                  </a:ext>
                </a:extLst>
              </a:tr>
              <a:tr h="0">
                <a:tc>
                  <a:txBody>
                    <a:bodyPr/>
                    <a:lstStyle/>
                    <a:p>
                      <a:pPr marL="0" indent="0">
                        <a:buNone/>
                      </a:pPr>
                      <a:r>
                        <a:rPr lang="en-US" sz="1300" dirty="0">
                          <a:solidFill>
                            <a:srgbClr val="F1F5F9"/>
                          </a:solidFill>
                        </a:rPr>
                        <a:t>Append vehicle / history record</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Amortized O(1)</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tc>
                  <a:txBody>
                    <a:bodyPr/>
                    <a:lstStyle/>
                    <a:p>
                      <a:pPr marL="0" indent="0">
                        <a:buNone/>
                      </a:pPr>
                      <a:r>
                        <a:rPr lang="en-US" sz="1300" dirty="0">
                          <a:solidFill>
                            <a:srgbClr val="F1F5F9"/>
                          </a:solidFill>
                        </a:rPr>
                        <a:t>O(n + h)</a:t>
                      </a:r>
                      <a:endParaRPr lang="en-US" sz="1300" dirty="0"/>
                    </a:p>
                  </a:txBody>
                  <a:tcPr anchor="ctr">
                    <a:lnL w="12700" cap="flat" cmpd="sng" algn="ctr">
                      <a:solidFill>
                        <a:srgbClr val="0B1220"/>
                      </a:solidFill>
                      <a:prstDash val="solid"/>
                      <a:round/>
                      <a:headEnd type="none" w="med" len="med"/>
                      <a:tailEnd type="none" w="med" len="med"/>
                    </a:lnL>
                    <a:lnR w="12700" cap="flat" cmpd="sng" algn="ctr">
                      <a:solidFill>
                        <a:srgbClr val="0B1220"/>
                      </a:solidFill>
                      <a:prstDash val="solid"/>
                      <a:round/>
                      <a:headEnd type="none" w="med" len="med"/>
                      <a:tailEnd type="none" w="med" len="med"/>
                    </a:lnR>
                    <a:lnT w="12700" cap="flat" cmpd="sng" algn="ctr">
                      <a:solidFill>
                        <a:srgbClr val="0B1220"/>
                      </a:solidFill>
                      <a:prstDash val="solid"/>
                      <a:round/>
                      <a:headEnd type="none" w="med" len="med"/>
                      <a:tailEnd type="none" w="med" len="med"/>
                    </a:lnT>
                    <a:lnB w="12700" cap="flat" cmpd="sng" algn="ctr">
                      <a:solidFill>
                        <a:srgbClr val="0B1220"/>
                      </a:solidFill>
                      <a:prstDash val="solid"/>
                      <a:round/>
                      <a:headEnd type="none" w="med" len="med"/>
                      <a:tailEnd type="none" w="med" len="med"/>
                    </a:lnB>
                    <a:solidFill>
                      <a:srgbClr val="16233F"/>
                    </a:solidFill>
                  </a:tcPr>
                </a:tc>
                <a:extLst>
                  <a:ext uri="{0D108BD9-81ED-4DB2-BD59-A6C34878D82A}">
                    <a16:rowId xmlns:a16="http://schemas.microsoft.com/office/drawing/2014/main" val="10007"/>
                  </a:ext>
                </a:extLst>
              </a:tr>
            </a:tbl>
          </a:graphicData>
        </a:graphic>
      </p:graphicFrame>
      <p:sp>
        <p:nvSpPr>
          <p:cNvPr id="9" name="Text 5"/>
          <p:cNvSpPr txBox="1"/>
          <p:nvPr/>
        </p:nvSpPr>
        <p:spPr>
          <a:xfrm>
            <a:off x="457200" y="4206240"/>
            <a:ext cx="8229600" cy="365760"/>
          </a:xfrm>
          <a:prstGeom prst="rect">
            <a:avLst/>
          </a:prstGeom>
          <a:noFill/>
          <a:ln/>
        </p:spPr>
        <p:txBody>
          <a:bodyPr wrap="square" lIns="0" tIns="0" rIns="0" bIns="0" rtlCol="0" anchor="ctr"/>
          <a:lstStyle/>
          <a:p>
            <a:pPr marL="0" indent="0">
              <a:buNone/>
            </a:pPr>
            <a:r>
              <a:rPr lang="en-US" sz="1300" b="1" dirty="0">
                <a:solidFill>
                  <a:srgbClr val="22D3EE"/>
                </a:solidFill>
              </a:rPr>
              <a:t>Total Java memory: O(s + n + 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Demonstration and Testing</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12</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Shape 5"/>
          <p:cNvSpPr/>
          <p:nvPr/>
        </p:nvSpPr>
        <p:spPr>
          <a:xfrm>
            <a:off x="457200" y="1051560"/>
            <a:ext cx="2651760" cy="1645920"/>
          </a:xfrm>
          <a:prstGeom prst="roundRect">
            <a:avLst>
              <a:gd name="adj" fmla="val 4444"/>
            </a:avLst>
          </a:prstGeom>
          <a:solidFill>
            <a:srgbClr val="0F1A30"/>
          </a:solidFill>
          <a:ln w="12700">
            <a:solidFill>
              <a:srgbClr val="94A3B8"/>
            </a:solidFill>
            <a:prstDash val="dash"/>
          </a:ln>
        </p:spPr>
        <p:txBody>
          <a:bodyPr/>
          <a:lstStyle/>
          <a:p>
            <a:endParaRPr lang="en-IN"/>
          </a:p>
        </p:txBody>
      </p:sp>
      <p:sp>
        <p:nvSpPr>
          <p:cNvPr id="9" name="Text 6"/>
          <p:cNvSpPr txBox="1"/>
          <p:nvPr/>
        </p:nvSpPr>
        <p:spPr>
          <a:xfrm>
            <a:off x="457200" y="1051560"/>
            <a:ext cx="2651760" cy="1645920"/>
          </a:xfrm>
          <a:prstGeom prst="rect">
            <a:avLst/>
          </a:prstGeom>
          <a:noFill/>
          <a:ln/>
        </p:spPr>
        <p:txBody>
          <a:bodyPr wrap="square" lIns="50800" tIns="50800" rIns="50800" bIns="50800" rtlCol="0" anchor="ctr"/>
          <a:lstStyle/>
          <a:p>
            <a:pPr marL="0" indent="0" algn="ctr">
              <a:buNone/>
            </a:pPr>
            <a:r>
              <a:rPr lang="en-US" sz="1100" dirty="0">
                <a:solidFill>
                  <a:srgbClr val="94A3B8"/>
                </a:solidFill>
              </a:rPr>
              <a:t>Screenshot 1</a:t>
            </a:r>
            <a:endParaRPr lang="en-US" sz="1100" dirty="0"/>
          </a:p>
          <a:p>
            <a:pPr marL="0" indent="0" algn="ctr">
              <a:buNone/>
            </a:pPr>
            <a:r>
              <a:rPr lang="en-US" sz="1100" dirty="0">
                <a:solidFill>
                  <a:srgbClr val="94A3B8"/>
                </a:solidFill>
              </a:rPr>
              <a:t>Dashboard / slots</a:t>
            </a:r>
            <a:endParaRPr lang="en-US" sz="1100" dirty="0"/>
          </a:p>
          <a:p>
            <a:pPr marL="0" indent="0" algn="ctr">
              <a:buNone/>
            </a:pPr>
            <a:r>
              <a:rPr lang="en-US" sz="1100" dirty="0">
                <a:solidFill>
                  <a:srgbClr val="94A3B8"/>
                </a:solidFill>
              </a:rPr>
              <a:t>[replace with real screenshot]</a:t>
            </a:r>
            <a:endParaRPr lang="en-US" sz="1100" dirty="0"/>
          </a:p>
        </p:txBody>
      </p:sp>
      <p:sp>
        <p:nvSpPr>
          <p:cNvPr id="10" name="Shape 7"/>
          <p:cNvSpPr/>
          <p:nvPr/>
        </p:nvSpPr>
        <p:spPr>
          <a:xfrm>
            <a:off x="3291840" y="1051560"/>
            <a:ext cx="2651760" cy="1645920"/>
          </a:xfrm>
          <a:prstGeom prst="roundRect">
            <a:avLst>
              <a:gd name="adj" fmla="val 4444"/>
            </a:avLst>
          </a:prstGeom>
          <a:solidFill>
            <a:srgbClr val="0F1A30"/>
          </a:solidFill>
          <a:ln w="12700">
            <a:solidFill>
              <a:srgbClr val="94A3B8"/>
            </a:solidFill>
            <a:prstDash val="dash"/>
          </a:ln>
        </p:spPr>
        <p:txBody>
          <a:bodyPr/>
          <a:lstStyle/>
          <a:p>
            <a:endParaRPr lang="en-IN"/>
          </a:p>
        </p:txBody>
      </p:sp>
      <p:sp>
        <p:nvSpPr>
          <p:cNvPr id="11" name="Text 8"/>
          <p:cNvSpPr txBox="1"/>
          <p:nvPr/>
        </p:nvSpPr>
        <p:spPr>
          <a:xfrm>
            <a:off x="3291840" y="1051560"/>
            <a:ext cx="2651760" cy="1645920"/>
          </a:xfrm>
          <a:prstGeom prst="rect">
            <a:avLst/>
          </a:prstGeom>
          <a:noFill/>
          <a:ln/>
        </p:spPr>
        <p:txBody>
          <a:bodyPr wrap="square" lIns="50800" tIns="50800" rIns="50800" bIns="50800" rtlCol="0" anchor="ctr"/>
          <a:lstStyle/>
          <a:p>
            <a:pPr marL="0" indent="0" algn="ctr">
              <a:buNone/>
            </a:pPr>
            <a:r>
              <a:rPr lang="en-US" sz="1100" dirty="0">
                <a:solidFill>
                  <a:srgbClr val="94A3B8"/>
                </a:solidFill>
              </a:rPr>
              <a:t>Screenshot 2</a:t>
            </a:r>
            <a:endParaRPr lang="en-US" sz="1100" dirty="0"/>
          </a:p>
          <a:p>
            <a:pPr marL="0" indent="0" algn="ctr">
              <a:buNone/>
            </a:pPr>
            <a:r>
              <a:rPr lang="en-US" sz="1100" dirty="0">
                <a:solidFill>
                  <a:srgbClr val="94A3B8"/>
                </a:solidFill>
              </a:rPr>
              <a:t>Park: slot assigned</a:t>
            </a:r>
            <a:endParaRPr lang="en-US" sz="1100" dirty="0"/>
          </a:p>
          <a:p>
            <a:pPr marL="0" indent="0" algn="ctr">
              <a:buNone/>
            </a:pPr>
            <a:r>
              <a:rPr lang="en-US" sz="1100" dirty="0">
                <a:solidFill>
                  <a:srgbClr val="94A3B8"/>
                </a:solidFill>
              </a:rPr>
              <a:t>[replace with real screenshot]</a:t>
            </a:r>
            <a:endParaRPr lang="en-US" sz="1100" dirty="0"/>
          </a:p>
        </p:txBody>
      </p:sp>
      <p:sp>
        <p:nvSpPr>
          <p:cNvPr id="12" name="Shape 9"/>
          <p:cNvSpPr/>
          <p:nvPr/>
        </p:nvSpPr>
        <p:spPr>
          <a:xfrm>
            <a:off x="6126480" y="1051560"/>
            <a:ext cx="2651760" cy="1645920"/>
          </a:xfrm>
          <a:prstGeom prst="roundRect">
            <a:avLst>
              <a:gd name="adj" fmla="val 4444"/>
            </a:avLst>
          </a:prstGeom>
          <a:solidFill>
            <a:srgbClr val="0F1A30"/>
          </a:solidFill>
          <a:ln w="12700">
            <a:solidFill>
              <a:srgbClr val="94A3B8"/>
            </a:solidFill>
            <a:prstDash val="dash"/>
          </a:ln>
        </p:spPr>
        <p:txBody>
          <a:bodyPr/>
          <a:lstStyle/>
          <a:p>
            <a:endParaRPr lang="en-IN"/>
          </a:p>
        </p:txBody>
      </p:sp>
      <p:sp>
        <p:nvSpPr>
          <p:cNvPr id="13" name="Text 10"/>
          <p:cNvSpPr txBox="1"/>
          <p:nvPr/>
        </p:nvSpPr>
        <p:spPr>
          <a:xfrm>
            <a:off x="6126480" y="1051560"/>
            <a:ext cx="2651760" cy="1645920"/>
          </a:xfrm>
          <a:prstGeom prst="rect">
            <a:avLst/>
          </a:prstGeom>
          <a:noFill/>
          <a:ln/>
        </p:spPr>
        <p:txBody>
          <a:bodyPr wrap="square" lIns="50800" tIns="50800" rIns="50800" bIns="50800" rtlCol="0" anchor="ctr"/>
          <a:lstStyle/>
          <a:p>
            <a:pPr marL="0" indent="0" algn="ctr">
              <a:buNone/>
            </a:pPr>
            <a:r>
              <a:rPr lang="en-US" sz="1100" dirty="0">
                <a:solidFill>
                  <a:srgbClr val="94A3B8"/>
                </a:solidFill>
              </a:rPr>
              <a:t>Screenshot 3</a:t>
            </a:r>
            <a:endParaRPr lang="en-US" sz="1100" dirty="0"/>
          </a:p>
          <a:p>
            <a:pPr marL="0" indent="0" algn="ctr">
              <a:buNone/>
            </a:pPr>
            <a:r>
              <a:rPr lang="en-US" sz="1100" dirty="0">
                <a:solidFill>
                  <a:srgbClr val="94A3B8"/>
                </a:solidFill>
              </a:rPr>
              <a:t>Slot freed after exit</a:t>
            </a:r>
            <a:endParaRPr lang="en-US" sz="1100" dirty="0"/>
          </a:p>
          <a:p>
            <a:pPr marL="0" indent="0" algn="ctr">
              <a:buNone/>
            </a:pPr>
            <a:r>
              <a:rPr lang="en-US" sz="1100" dirty="0">
                <a:solidFill>
                  <a:srgbClr val="94A3B8"/>
                </a:solidFill>
              </a:rPr>
              <a:t>[replace with real screenshot]</a:t>
            </a:r>
            <a:endParaRPr lang="en-US" sz="1100" dirty="0"/>
          </a:p>
        </p:txBody>
      </p:sp>
      <p:sp>
        <p:nvSpPr>
          <p:cNvPr id="14" name="Text 11"/>
          <p:cNvSpPr txBox="1"/>
          <p:nvPr/>
        </p:nvSpPr>
        <p:spPr>
          <a:xfrm>
            <a:off x="457200" y="3281516"/>
            <a:ext cx="8229600" cy="1336203"/>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1F5F9"/>
                </a:solidFill>
              </a:rPr>
              <a:t>PASSED: 4 Python unit tests (password and email helpers)</a:t>
            </a:r>
            <a:endParaRPr lang="en-US" sz="1300" dirty="0"/>
          </a:p>
          <a:p>
            <a:pPr marL="342900" indent="-342900">
              <a:spcAft>
                <a:spcPts val="800"/>
              </a:spcAft>
              <a:buSzPct val="100000"/>
              <a:buChar char="•"/>
            </a:pPr>
            <a:r>
              <a:rPr lang="en-US" sz="1300" dirty="0">
                <a:solidFill>
                  <a:srgbClr val="F1F5F9"/>
                </a:solidFill>
              </a:rPr>
              <a:t>PASSED: Java smoke test (allocation, duplicate, full lot, invalid type, removal, lookup, restore)</a:t>
            </a:r>
            <a:endParaRPr lang="en-US" sz="1300" dirty="0"/>
          </a:p>
          <a:p>
            <a:pPr marL="342900" indent="-342900">
              <a:spcAft>
                <a:spcPts val="800"/>
              </a:spcAft>
              <a:buSzPct val="100000"/>
              <a:buChar char="•"/>
            </a:pPr>
            <a:r>
              <a:rPr lang="en-US" sz="1300" dirty="0">
                <a:solidFill>
                  <a:srgbClr val="F1F5F9"/>
                </a:solidFill>
              </a:rPr>
              <a:t>PASSED: Python syntax check (app.py, auth_security.py)</a:t>
            </a:r>
            <a:endParaRPr lang="en-US" sz="1300" dirty="0"/>
          </a:p>
          <a:p>
            <a:pPr marL="342900" indent="-342900">
              <a:spcAft>
                <a:spcPts val="800"/>
              </a:spcAft>
              <a:buSzPct val="100000"/>
              <a:buChar char="•"/>
            </a:pPr>
            <a:r>
              <a:rPr lang="en-US" sz="1300" dirty="0">
                <a:solidFill>
                  <a:srgbClr val="F1F5F9"/>
                </a:solidFill>
              </a:rPr>
              <a:t>NOT TESTED: full UI-Java-SQLite integration, benchmarks</a:t>
            </a:r>
            <a:endParaRPr lang="en-US" sz="1300" dirty="0"/>
          </a:p>
        </p:txBody>
      </p:sp>
      <p:pic>
        <p:nvPicPr>
          <p:cNvPr id="15" name="Picture 14">
            <a:extLst>
              <a:ext uri="{FF2B5EF4-FFF2-40B4-BE49-F238E27FC236}">
                <a16:creationId xmlns:a16="http://schemas.microsoft.com/office/drawing/2014/main" id="{925B63F3-97F7-CFF3-BCF2-5E83DF75F7AF}"/>
              </a:ext>
            </a:extLst>
          </p:cNvPr>
          <p:cNvPicPr>
            <a:picLocks noChangeAspect="1"/>
          </p:cNvPicPr>
          <p:nvPr/>
        </p:nvPicPr>
        <p:blipFill>
          <a:blip r:embed="rId3"/>
          <a:stretch>
            <a:fillRect/>
          </a:stretch>
        </p:blipFill>
        <p:spPr>
          <a:xfrm>
            <a:off x="407069" y="1051560"/>
            <a:ext cx="2701892" cy="1816788"/>
          </a:xfrm>
          <a:prstGeom prst="rect">
            <a:avLst/>
          </a:prstGeom>
        </p:spPr>
      </p:pic>
      <p:pic>
        <p:nvPicPr>
          <p:cNvPr id="17" name="Picture 16">
            <a:extLst>
              <a:ext uri="{FF2B5EF4-FFF2-40B4-BE49-F238E27FC236}">
                <a16:creationId xmlns:a16="http://schemas.microsoft.com/office/drawing/2014/main" id="{BAF65C7A-40B9-C38F-DBEC-F489DC7A81CB}"/>
              </a:ext>
            </a:extLst>
          </p:cNvPr>
          <p:cNvPicPr>
            <a:picLocks noChangeAspect="1"/>
          </p:cNvPicPr>
          <p:nvPr/>
        </p:nvPicPr>
        <p:blipFill>
          <a:blip r:embed="rId4"/>
          <a:stretch>
            <a:fillRect/>
          </a:stretch>
        </p:blipFill>
        <p:spPr>
          <a:xfrm>
            <a:off x="6126479" y="891725"/>
            <a:ext cx="2761753" cy="1940515"/>
          </a:xfrm>
          <a:prstGeom prst="rect">
            <a:avLst/>
          </a:prstGeom>
        </p:spPr>
      </p:pic>
      <p:pic>
        <p:nvPicPr>
          <p:cNvPr id="19" name="Picture 18">
            <a:extLst>
              <a:ext uri="{FF2B5EF4-FFF2-40B4-BE49-F238E27FC236}">
                <a16:creationId xmlns:a16="http://schemas.microsoft.com/office/drawing/2014/main" id="{414A4275-5C7F-5A0C-1174-A10FD4B1B908}"/>
              </a:ext>
            </a:extLst>
          </p:cNvPr>
          <p:cNvPicPr>
            <a:picLocks noChangeAspect="1"/>
          </p:cNvPicPr>
          <p:nvPr/>
        </p:nvPicPr>
        <p:blipFill>
          <a:blip r:embed="rId5"/>
          <a:stretch>
            <a:fillRect/>
          </a:stretch>
        </p:blipFill>
        <p:spPr>
          <a:xfrm>
            <a:off x="3241707" y="1082531"/>
            <a:ext cx="2701893" cy="17497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Limitations and Future Improvements</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13</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Text 5"/>
          <p:cNvSpPr txBox="1"/>
          <p:nvPr/>
        </p:nvSpPr>
        <p:spPr>
          <a:xfrm>
            <a:off x="457200" y="1005840"/>
            <a:ext cx="4023360" cy="274320"/>
          </a:xfrm>
          <a:prstGeom prst="rect">
            <a:avLst/>
          </a:prstGeom>
          <a:noFill/>
          <a:ln/>
        </p:spPr>
        <p:txBody>
          <a:bodyPr wrap="square" lIns="0" tIns="0" rIns="0" bIns="0" rtlCol="0" anchor="ctr"/>
          <a:lstStyle/>
          <a:p>
            <a:pPr marL="0" indent="0">
              <a:buNone/>
            </a:pPr>
            <a:r>
              <a:rPr lang="en-US" sz="1300" b="1" dirty="0">
                <a:solidFill>
                  <a:srgbClr val="F87171"/>
                </a:solidFill>
              </a:rPr>
              <a:t>CURRENT LIMITATIONS</a:t>
            </a:r>
            <a:endParaRPr lang="en-US" sz="1300" dirty="0"/>
          </a:p>
        </p:txBody>
      </p:sp>
      <p:sp>
        <p:nvSpPr>
          <p:cNvPr id="9" name="Text 6"/>
          <p:cNvSpPr txBox="1"/>
          <p:nvPr/>
        </p:nvSpPr>
        <p:spPr>
          <a:xfrm>
            <a:off x="457200" y="1371600"/>
            <a:ext cx="393192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1F5F9"/>
                </a:solidFill>
              </a:rPr>
              <a:t>Java occupancy is in memory; restore is best effort</a:t>
            </a:r>
            <a:endParaRPr lang="en-US" sz="1300" dirty="0"/>
          </a:p>
          <a:p>
            <a:pPr marL="342900" indent="-342900">
              <a:spcAft>
                <a:spcPts val="800"/>
              </a:spcAft>
              <a:buSzPct val="100000"/>
              <a:buChar char="•"/>
            </a:pPr>
            <a:r>
              <a:rPr lang="en-US" sz="1300" dirty="0">
                <a:solidFill>
                  <a:srgbClr val="F1F5F9"/>
                </a:solidFill>
              </a:rPr>
              <a:t>Java and SQLite are not one transaction</a:t>
            </a:r>
            <a:endParaRPr lang="en-US" sz="1300" dirty="0"/>
          </a:p>
          <a:p>
            <a:pPr marL="342900" indent="-342900">
              <a:spcAft>
                <a:spcPts val="800"/>
              </a:spcAft>
              <a:buSzPct val="100000"/>
              <a:buChar char="•"/>
            </a:pPr>
            <a:r>
              <a:rPr lang="en-US" sz="1300" dirty="0">
                <a:solidFill>
                  <a:srgbClr val="F1F5F9"/>
                </a:solidFill>
              </a:rPr>
              <a:t>No protocol authentication; not explicitly loopback-bound</a:t>
            </a:r>
            <a:endParaRPr lang="en-US" sz="1300" dirty="0"/>
          </a:p>
          <a:p>
            <a:pPr marL="342900" indent="-342900">
              <a:spcAft>
                <a:spcPts val="800"/>
              </a:spcAft>
              <a:buSzPct val="100000"/>
              <a:buChar char="•"/>
            </a:pPr>
            <a:r>
              <a:rPr lang="en-US" sz="1300" dirty="0">
                <a:solidFill>
                  <a:srgbClr val="F1F5F9"/>
                </a:solidFill>
              </a:rPr>
              <a:t>Color search and slot layout use linear scans</a:t>
            </a:r>
            <a:endParaRPr lang="en-US" sz="1300" dirty="0"/>
          </a:p>
          <a:p>
            <a:pPr marL="342900" indent="-342900">
              <a:spcAft>
                <a:spcPts val="800"/>
              </a:spcAft>
              <a:buSzPct val="100000"/>
              <a:buChar char="•"/>
            </a:pPr>
            <a:r>
              <a:rPr lang="en-US" sz="1300" dirty="0">
                <a:solidFill>
                  <a:srgbClr val="F1F5F9"/>
                </a:solidFill>
              </a:rPr>
              <a:t>No reservations, sensors or real payments</a:t>
            </a:r>
            <a:endParaRPr lang="en-US" sz="1300" dirty="0"/>
          </a:p>
        </p:txBody>
      </p:sp>
      <p:sp>
        <p:nvSpPr>
          <p:cNvPr id="10" name="Text 7"/>
          <p:cNvSpPr txBox="1"/>
          <p:nvPr/>
        </p:nvSpPr>
        <p:spPr>
          <a:xfrm>
            <a:off x="4663440" y="1005840"/>
            <a:ext cx="4023360" cy="274320"/>
          </a:xfrm>
          <a:prstGeom prst="rect">
            <a:avLst/>
          </a:prstGeom>
          <a:noFill/>
          <a:ln/>
        </p:spPr>
        <p:txBody>
          <a:bodyPr wrap="square" lIns="0" tIns="0" rIns="0" bIns="0" rtlCol="0" anchor="ctr"/>
          <a:lstStyle/>
          <a:p>
            <a:pPr marL="0" indent="0">
              <a:buNone/>
            </a:pPr>
            <a:r>
              <a:rPr lang="en-US" sz="1300" b="1" dirty="0">
                <a:solidFill>
                  <a:srgbClr val="34D399"/>
                </a:solidFill>
              </a:rPr>
              <a:t>FUTURE ENHANCEMENTS</a:t>
            </a:r>
            <a:endParaRPr lang="en-US" sz="1300" dirty="0"/>
          </a:p>
        </p:txBody>
      </p:sp>
      <p:sp>
        <p:nvSpPr>
          <p:cNvPr id="11" name="Text 8"/>
          <p:cNvSpPr txBox="1"/>
          <p:nvPr/>
        </p:nvSpPr>
        <p:spPr>
          <a:xfrm>
            <a:off x="4663440" y="1371600"/>
            <a:ext cx="4023360" cy="32004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1F5F9"/>
                </a:solidFill>
              </a:rPr>
              <a:t>Bind server to loopback or add authentication</a:t>
            </a:r>
            <a:endParaRPr lang="en-US" sz="1300" dirty="0"/>
          </a:p>
          <a:p>
            <a:pPr marL="342900" indent="-342900">
              <a:spcAft>
                <a:spcPts val="800"/>
              </a:spcAft>
              <a:buSzPct val="100000"/>
              <a:buChar char="•"/>
            </a:pPr>
            <a:r>
              <a:rPr lang="en-US" sz="1300" dirty="0">
                <a:solidFill>
                  <a:srgbClr val="F1F5F9"/>
                </a:solidFill>
              </a:rPr>
              <a:t>Keep Java and database state consistent</a:t>
            </a:r>
            <a:endParaRPr lang="en-US" sz="1300" dirty="0"/>
          </a:p>
          <a:p>
            <a:pPr marL="342900" indent="-342900">
              <a:spcAft>
                <a:spcPts val="800"/>
              </a:spcAft>
              <a:buSzPct val="100000"/>
              <a:buChar char="•"/>
            </a:pPr>
            <a:r>
              <a:rPr lang="en-US" sz="1300" dirty="0">
                <a:solidFill>
                  <a:srgbClr val="F1F5F9"/>
                </a:solidFill>
              </a:rPr>
              <a:t>Add end-to-end integration tests</a:t>
            </a:r>
            <a:endParaRPr lang="en-US" sz="1300" dirty="0"/>
          </a:p>
          <a:p>
            <a:pPr marL="342900" indent="-342900">
              <a:spcAft>
                <a:spcPts val="800"/>
              </a:spcAft>
              <a:buSzPct val="100000"/>
              <a:buChar char="•"/>
            </a:pPr>
            <a:r>
              <a:rPr lang="en-US" sz="1300" dirty="0">
                <a:solidFill>
                  <a:srgbClr val="F1F5F9"/>
                </a:solidFill>
              </a:rPr>
              <a:t>Slot-indexed array to replace nested scans</a:t>
            </a:r>
            <a:endParaRPr lang="en-US" sz="1300" dirty="0"/>
          </a:p>
          <a:p>
            <a:pPr marL="342900" indent="-342900">
              <a:spcAft>
                <a:spcPts val="800"/>
              </a:spcAft>
              <a:buSzPct val="100000"/>
              <a:buChar char="•"/>
            </a:pPr>
            <a:r>
              <a:rPr lang="en-US" sz="1300" dirty="0">
                <a:solidFill>
                  <a:srgbClr val="F1F5F9"/>
                </a:solidFill>
              </a:rPr>
              <a:t>Color index (HashMap) if the lot scales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22D3EE"/>
          </a:solidFill>
          <a:ln w="12700">
            <a:solidFill>
              <a:srgbClr val="22D3EE"/>
            </a:solidFill>
            <a:prstDash val="solid"/>
          </a:ln>
        </p:spPr>
        <p:txBody>
          <a:bodyPr/>
          <a:lstStyle/>
          <a:p>
            <a:endParaRPr lang="en-IN"/>
          </a:p>
        </p:txBody>
      </p:sp>
      <p:sp>
        <p:nvSpPr>
          <p:cNvPr id="3" name="Text 1"/>
          <p:cNvSpPr txBox="1"/>
          <p:nvPr/>
        </p:nvSpPr>
        <p:spPr>
          <a:xfrm>
            <a:off x="457200" y="228600"/>
            <a:ext cx="8229600" cy="548640"/>
          </a:xfrm>
          <a:prstGeom prst="rect">
            <a:avLst/>
          </a:prstGeom>
          <a:noFill/>
          <a:ln/>
        </p:spPr>
        <p:txBody>
          <a:bodyPr wrap="square" lIns="0" tIns="0" rIns="0" bIns="0" rtlCol="0" anchor="ctr"/>
          <a:lstStyle/>
          <a:p>
            <a:pPr marL="0" indent="0">
              <a:buNone/>
            </a:pPr>
            <a:r>
              <a:rPr lang="en-US" sz="2600" b="1" dirty="0">
                <a:solidFill>
                  <a:srgbClr val="F1F5F9"/>
                </a:solidFill>
              </a:rPr>
              <a:t>Conclusion</a:t>
            </a:r>
            <a:endParaRPr lang="en-US" sz="2600" dirty="0"/>
          </a:p>
        </p:txBody>
      </p:sp>
      <p:sp>
        <p:nvSpPr>
          <p:cNvPr id="4" name="Shape 2"/>
          <p:cNvSpPr/>
          <p:nvPr/>
        </p:nvSpPr>
        <p:spPr>
          <a:xfrm>
            <a:off x="457200" y="804672"/>
            <a:ext cx="1097280" cy="45720"/>
          </a:xfrm>
          <a:prstGeom prst="rect">
            <a:avLst/>
          </a:prstGeom>
          <a:solidFill>
            <a:srgbClr val="22D3EE"/>
          </a:solidFill>
          <a:ln w="12700">
            <a:solidFill>
              <a:srgbClr val="22D3EE"/>
            </a:solidFill>
            <a:prstDash val="solid"/>
          </a:ln>
        </p:spPr>
        <p:txBody>
          <a:bodyPr/>
          <a:lstStyle/>
          <a:p>
            <a:endParaRPr lang="en-IN"/>
          </a:p>
        </p:txBody>
      </p:sp>
      <p:sp>
        <p:nvSpPr>
          <p:cNvPr id="5" name="Text 3"/>
          <p:cNvSpPr txBox="1"/>
          <p:nvPr/>
        </p:nvSpPr>
        <p:spPr>
          <a:xfrm>
            <a:off x="8321040" y="4754880"/>
            <a:ext cx="457200" cy="274320"/>
          </a:xfrm>
          <a:prstGeom prst="rect">
            <a:avLst/>
          </a:prstGeom>
          <a:noFill/>
          <a:ln/>
        </p:spPr>
        <p:txBody>
          <a:bodyPr wrap="square" lIns="0" tIns="0" rIns="0" bIns="0" rtlCol="0" anchor="ctr"/>
          <a:lstStyle/>
          <a:p>
            <a:pPr marL="0" indent="0" algn="r">
              <a:buNone/>
            </a:pPr>
            <a:r>
              <a:rPr lang="en-US" sz="1000" dirty="0">
                <a:solidFill>
                  <a:srgbClr val="94A3B8"/>
                </a:solidFill>
              </a:rPr>
              <a:t>14</a:t>
            </a:r>
            <a:endParaRPr lang="en-US" sz="1000" dirty="0"/>
          </a:p>
        </p:txBody>
      </p:sp>
      <p:sp>
        <p:nvSpPr>
          <p:cNvPr id="6" name="Text 4"/>
          <p:cNvSpPr txBox="1"/>
          <p:nvPr/>
        </p:nvSpPr>
        <p:spPr>
          <a:xfrm>
            <a:off x="457200" y="4754880"/>
            <a:ext cx="3657600" cy="274320"/>
          </a:xfrm>
          <a:prstGeom prst="rect">
            <a:avLst/>
          </a:prstGeom>
          <a:noFill/>
          <a:ln/>
        </p:spPr>
        <p:txBody>
          <a:bodyPr wrap="square" lIns="0" tIns="0" rIns="0" bIns="0" rtlCol="0" anchor="ctr"/>
          <a:lstStyle/>
          <a:p>
            <a:pPr marL="0" indent="0">
              <a:buNone/>
            </a:pPr>
            <a:r>
              <a:rPr lang="en-US" sz="1000" dirty="0">
                <a:solidFill>
                  <a:srgbClr val="94A3B8"/>
                </a:solidFill>
              </a:rPr>
              <a:t>GoParking | DSA Major Project</a:t>
            </a:r>
            <a:endParaRPr lang="en-US" sz="1000" dirty="0"/>
          </a:p>
        </p:txBody>
      </p:sp>
      <p:sp>
        <p:nvSpPr>
          <p:cNvPr id="8" name="Text 5"/>
          <p:cNvSpPr txBox="1"/>
          <p:nvPr/>
        </p:nvSpPr>
        <p:spPr>
          <a:xfrm>
            <a:off x="548640" y="1097280"/>
            <a:ext cx="8046720" cy="34747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F1F5F9"/>
                </a:solidFill>
              </a:rPr>
              <a:t>Problem: manual parking is hard to track and search</a:t>
            </a:r>
            <a:endParaRPr lang="en-US" sz="1700" dirty="0"/>
          </a:p>
          <a:p>
            <a:pPr marL="342900" indent="-342900">
              <a:spcAft>
                <a:spcPts val="800"/>
              </a:spcAft>
              <a:buSzPct val="100000"/>
              <a:buChar char="•"/>
            </a:pPr>
            <a:r>
              <a:rPr lang="en-US" sz="1700" dirty="0">
                <a:solidFill>
                  <a:srgbClr val="F1F5F9"/>
                </a:solidFill>
              </a:rPr>
              <a:t>Built: Streamlit UI + Java engine + SQLite storage</a:t>
            </a:r>
            <a:endParaRPr lang="en-US" sz="1700" dirty="0"/>
          </a:p>
          <a:p>
            <a:pPr marL="342900" indent="-342900">
              <a:spcAft>
                <a:spcPts val="800"/>
              </a:spcAft>
              <a:buSzPct val="100000"/>
              <a:buChar char="•"/>
            </a:pPr>
            <a:r>
              <a:rPr lang="en-US" sz="1700" dirty="0">
                <a:solidFill>
                  <a:srgbClr val="F1F5F9"/>
                </a:solidFill>
              </a:rPr>
              <a:t>Core DSA: TreeSet (lowest free slot), HashMap (active lookup)</a:t>
            </a:r>
            <a:endParaRPr lang="en-US" sz="1700" dirty="0"/>
          </a:p>
          <a:p>
            <a:pPr marL="342900" indent="-342900">
              <a:spcAft>
                <a:spcPts val="800"/>
              </a:spcAft>
              <a:buSzPct val="100000"/>
              <a:buChar char="•"/>
            </a:pPr>
            <a:r>
              <a:rPr lang="en-US" sz="1700" dirty="0">
                <a:solidFill>
                  <a:srgbClr val="F1F5F9"/>
                </a:solidFill>
              </a:rPr>
              <a:t>Also used: ArrayList, HashSet and linear scans</a:t>
            </a:r>
            <a:endParaRPr lang="en-US" sz="1700" dirty="0"/>
          </a:p>
          <a:p>
            <a:pPr marL="342900" indent="-342900">
              <a:spcAft>
                <a:spcPts val="800"/>
              </a:spcAft>
              <a:buSzPct val="100000"/>
              <a:buChar char="•"/>
            </a:pPr>
            <a:r>
              <a:rPr lang="en-US" sz="1700" dirty="0">
                <a:solidFill>
                  <a:srgbClr val="F1F5F9"/>
                </a:solidFill>
              </a:rPr>
              <a:t>Learned: choosing structures by operation cost, and integrating two languages</a:t>
            </a:r>
            <a:endParaRPr lang="en-US" sz="1700" dirty="0"/>
          </a:p>
          <a:p>
            <a:pPr marL="342900" indent="-342900">
              <a:spcAft>
                <a:spcPts val="800"/>
              </a:spcAft>
              <a:buSzPct val="100000"/>
              <a:buChar char="•"/>
            </a:pPr>
            <a:r>
              <a:rPr lang="en-US" sz="1700" dirty="0">
                <a:solidFill>
                  <a:srgbClr val="F1F5F9"/>
                </a:solidFill>
              </a:rPr>
              <a:t>Next: improve consistency, security and testing</a:t>
            </a:r>
            <a:endParaRPr lang="en-US" sz="1700" dirty="0"/>
          </a:p>
        </p:txBody>
      </p:sp>
    </p:spTree>
  </p:cSld>
  <p:clrMapOvr>
    <a:masterClrMapping/>
  </p:clrMapOvr>
</p:sld>
</file>

<file path=ppt/theme/theme1.xml><?xml version="1.0" encoding="utf-8"?>
<a:theme xmlns:a="http://schemas.openxmlformats.org/drawingml/2006/main" name="GoParking">
  <a:themeElements>
    <a:clrScheme name="GoParking">
      <a:dk1>
        <a:srgbClr val="0B1220"/>
      </a:dk1>
      <a:lt1>
        <a:srgbClr val="FFFFFF"/>
      </a:lt1>
      <a:dk2>
        <a:srgbClr val="111C33"/>
      </a:dk2>
      <a:lt2>
        <a:srgbClr val="E8EEF9"/>
      </a:lt2>
      <a:accent1>
        <a:srgbClr val="22D3EE"/>
      </a:accent1>
      <a:accent2>
        <a:srgbClr val="3B82F6"/>
      </a:accent2>
      <a:accent3>
        <a:srgbClr val="F59E0B"/>
      </a:accent3>
      <a:accent4>
        <a:srgbClr val="34D399"/>
      </a:accent4>
      <a:accent5>
        <a:srgbClr val="F87171"/>
      </a:accent5>
      <a:accent6>
        <a:srgbClr val="A78BFA"/>
      </a:accent6>
      <a:hlink>
        <a:srgbClr val="22D3EE"/>
      </a:hlink>
      <a:folHlink>
        <a:srgbClr val="A78BFA"/>
      </a:folHlink>
    </a:clrScheme>
    <a:fontScheme name="GoPark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2006</Words>
  <Application>Microsoft Office PowerPoint</Application>
  <PresentationFormat>On-screen Show (16:9)</PresentationFormat>
  <Paragraphs>264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Consolas</vt:lpstr>
      <vt:lpstr>GoParking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GoParking - DSA Minor Project</dc:title>
  <dc:subject>PptxGenJS Presentation</dc:subject>
  <dc:creator>Tesh Kumar Sahu</dc:creator>
  <cp:lastModifiedBy>tesh sahu</cp:lastModifiedBy>
  <cp:revision>2</cp:revision>
  <dcterms:created xsi:type="dcterms:W3CDTF">2026-10-13T17:32:27Z</dcterms:created>
  <dcterms:modified xsi:type="dcterms:W3CDTF">2026-10-13T17:52:08Z</dcterms:modified>
</cp:coreProperties>
</file>